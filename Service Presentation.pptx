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0" r:id="rId1"/>
  </p:sldMasterIdLst>
  <p:notesMasterIdLst>
    <p:notesMasterId r:id="rId10"/>
  </p:notesMasterIdLst>
  <p:sldIdLst>
    <p:sldId id="256" r:id="rId2"/>
    <p:sldId id="338" r:id="rId3"/>
    <p:sldId id="359" r:id="rId4"/>
    <p:sldId id="358" r:id="rId5"/>
    <p:sldId id="357" r:id="rId6"/>
    <p:sldId id="318" r:id="rId7"/>
    <p:sldId id="340" r:id="rId8"/>
    <p:sldId id="354"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05" d="100"/>
          <a:sy n="105" d="100"/>
        </p:scale>
        <p:origin x="132" y="2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ny mistry" userId="e723c2a31897706a" providerId="LiveId" clId="{9DCDD9F8-F832-4504-AE22-0ED870EF34DC}"/>
    <pc:docChg chg="custSel addSld delSld modSld">
      <pc:chgData name="jeny mistry" userId="e723c2a31897706a" providerId="LiveId" clId="{9DCDD9F8-F832-4504-AE22-0ED870EF34DC}" dt="2026-02-17T17:39:56.290" v="19"/>
      <pc:docMkLst>
        <pc:docMk/>
      </pc:docMkLst>
      <pc:sldChg chg="modSp mod">
        <pc:chgData name="jeny mistry" userId="e723c2a31897706a" providerId="LiveId" clId="{9DCDD9F8-F832-4504-AE22-0ED870EF34DC}" dt="2026-02-17T17:39:56.290" v="19"/>
        <pc:sldMkLst>
          <pc:docMk/>
          <pc:sldMk cId="3473738236" sldId="256"/>
        </pc:sldMkLst>
        <pc:spChg chg="mod">
          <ac:chgData name="jeny mistry" userId="e723c2a31897706a" providerId="LiveId" clId="{9DCDD9F8-F832-4504-AE22-0ED870EF34DC}" dt="2026-02-17T17:39:56.290" v="19"/>
          <ac:spMkLst>
            <pc:docMk/>
            <pc:sldMk cId="3473738236" sldId="256"/>
            <ac:spMk id="2" creationId="{69EA223D-EEC8-8316-1A2D-AF17EAB285F5}"/>
          </ac:spMkLst>
        </pc:spChg>
        <pc:spChg chg="mod">
          <ac:chgData name="jeny mistry" userId="e723c2a31897706a" providerId="LiveId" clId="{9DCDD9F8-F832-4504-AE22-0ED870EF34DC}" dt="2026-02-17T17:39:56.290" v="19"/>
          <ac:spMkLst>
            <pc:docMk/>
            <pc:sldMk cId="3473738236" sldId="256"/>
            <ac:spMk id="3" creationId="{07053A29-43A0-F4B8-01C1-069D90D60A5C}"/>
          </ac:spMkLst>
        </pc:spChg>
      </pc:sldChg>
      <pc:sldChg chg="del">
        <pc:chgData name="jeny mistry" userId="e723c2a31897706a" providerId="LiveId" clId="{9DCDD9F8-F832-4504-AE22-0ED870EF34DC}" dt="2026-02-17T17:36:38.330" v="12" actId="47"/>
        <pc:sldMkLst>
          <pc:docMk/>
          <pc:sldMk cId="52264661" sldId="321"/>
        </pc:sldMkLst>
      </pc:sldChg>
      <pc:sldChg chg="modSp">
        <pc:chgData name="jeny mistry" userId="e723c2a31897706a" providerId="LiveId" clId="{9DCDD9F8-F832-4504-AE22-0ED870EF34DC}" dt="2026-02-17T17:39:56.290" v="19"/>
        <pc:sldMkLst>
          <pc:docMk/>
          <pc:sldMk cId="2510773787" sldId="338"/>
        </pc:sldMkLst>
        <pc:spChg chg="mod">
          <ac:chgData name="jeny mistry" userId="e723c2a31897706a" providerId="LiveId" clId="{9DCDD9F8-F832-4504-AE22-0ED870EF34DC}" dt="2026-02-17T17:39:56.290" v="19"/>
          <ac:spMkLst>
            <pc:docMk/>
            <pc:sldMk cId="2510773787" sldId="338"/>
            <ac:spMk id="2" creationId="{0347CFA1-34A1-EEED-2A2F-357C812A4BDE}"/>
          </ac:spMkLst>
        </pc:spChg>
        <pc:spChg chg="mod">
          <ac:chgData name="jeny mistry" userId="e723c2a31897706a" providerId="LiveId" clId="{9DCDD9F8-F832-4504-AE22-0ED870EF34DC}" dt="2026-02-17T17:39:56.290" v="19"/>
          <ac:spMkLst>
            <pc:docMk/>
            <pc:sldMk cId="2510773787" sldId="338"/>
            <ac:spMk id="3" creationId="{69E3CD12-709E-E6F0-2A06-AA449B19D04C}"/>
          </ac:spMkLst>
        </pc:spChg>
      </pc:sldChg>
      <pc:sldChg chg="modSp">
        <pc:chgData name="jeny mistry" userId="e723c2a31897706a" providerId="LiveId" clId="{9DCDD9F8-F832-4504-AE22-0ED870EF34DC}" dt="2026-02-17T17:39:56.290" v="19"/>
        <pc:sldMkLst>
          <pc:docMk/>
          <pc:sldMk cId="2264473378" sldId="340"/>
        </pc:sldMkLst>
        <pc:spChg chg="mod">
          <ac:chgData name="jeny mistry" userId="e723c2a31897706a" providerId="LiveId" clId="{9DCDD9F8-F832-4504-AE22-0ED870EF34DC}" dt="2026-02-17T17:39:56.290" v="19"/>
          <ac:spMkLst>
            <pc:docMk/>
            <pc:sldMk cId="2264473378" sldId="340"/>
            <ac:spMk id="2" creationId="{AB4DC97E-70E9-14E1-BF7F-9DDB718A579B}"/>
          </ac:spMkLst>
        </pc:spChg>
      </pc:sldChg>
      <pc:sldChg chg="modSp">
        <pc:chgData name="jeny mistry" userId="e723c2a31897706a" providerId="LiveId" clId="{9DCDD9F8-F832-4504-AE22-0ED870EF34DC}" dt="2026-02-17T17:39:56.290" v="19"/>
        <pc:sldMkLst>
          <pc:docMk/>
          <pc:sldMk cId="3050886358" sldId="354"/>
        </pc:sldMkLst>
        <pc:spChg chg="mod">
          <ac:chgData name="jeny mistry" userId="e723c2a31897706a" providerId="LiveId" clId="{9DCDD9F8-F832-4504-AE22-0ED870EF34DC}" dt="2026-02-17T17:39:56.290" v="19"/>
          <ac:spMkLst>
            <pc:docMk/>
            <pc:sldMk cId="3050886358" sldId="354"/>
            <ac:spMk id="6" creationId="{F2BB17FA-92CB-0927-056E-45B5ACE4E819}"/>
          </ac:spMkLst>
        </pc:spChg>
      </pc:sldChg>
      <pc:sldChg chg="modSp">
        <pc:chgData name="jeny mistry" userId="e723c2a31897706a" providerId="LiveId" clId="{9DCDD9F8-F832-4504-AE22-0ED870EF34DC}" dt="2026-02-17T17:39:56.290" v="19"/>
        <pc:sldMkLst>
          <pc:docMk/>
          <pc:sldMk cId="633092264" sldId="357"/>
        </pc:sldMkLst>
        <pc:spChg chg="mod">
          <ac:chgData name="jeny mistry" userId="e723c2a31897706a" providerId="LiveId" clId="{9DCDD9F8-F832-4504-AE22-0ED870EF34DC}" dt="2026-02-17T17:39:56.290" v="19"/>
          <ac:spMkLst>
            <pc:docMk/>
            <pc:sldMk cId="633092264" sldId="357"/>
            <ac:spMk id="2" creationId="{AB4DC97E-70E9-14E1-BF7F-9DDB718A579B}"/>
          </ac:spMkLst>
        </pc:spChg>
      </pc:sldChg>
      <pc:sldChg chg="modSp">
        <pc:chgData name="jeny mistry" userId="e723c2a31897706a" providerId="LiveId" clId="{9DCDD9F8-F832-4504-AE22-0ED870EF34DC}" dt="2026-02-17T17:39:56.290" v="19"/>
        <pc:sldMkLst>
          <pc:docMk/>
          <pc:sldMk cId="2330006251" sldId="358"/>
        </pc:sldMkLst>
        <pc:spChg chg="mod">
          <ac:chgData name="jeny mistry" userId="e723c2a31897706a" providerId="LiveId" clId="{9DCDD9F8-F832-4504-AE22-0ED870EF34DC}" dt="2026-02-17T17:39:56.290" v="19"/>
          <ac:spMkLst>
            <pc:docMk/>
            <pc:sldMk cId="2330006251" sldId="358"/>
            <ac:spMk id="2" creationId="{52E56FBF-8C64-D2F1-9C04-9FFBA4547EF3}"/>
          </ac:spMkLst>
        </pc:spChg>
        <pc:spChg chg="mod">
          <ac:chgData name="jeny mistry" userId="e723c2a31897706a" providerId="LiveId" clId="{9DCDD9F8-F832-4504-AE22-0ED870EF34DC}" dt="2026-02-17T17:39:56.290" v="19"/>
          <ac:spMkLst>
            <pc:docMk/>
            <pc:sldMk cId="2330006251" sldId="358"/>
            <ac:spMk id="3" creationId="{276746B5-09AF-DB43-75E5-0F3F1B5E64A3}"/>
          </ac:spMkLst>
        </pc:spChg>
      </pc:sldChg>
      <pc:sldChg chg="new del">
        <pc:chgData name="jeny mistry" userId="e723c2a31897706a" providerId="LiveId" clId="{9DCDD9F8-F832-4504-AE22-0ED870EF34DC}" dt="2026-02-17T17:35:31.194" v="3" actId="47"/>
        <pc:sldMkLst>
          <pc:docMk/>
          <pc:sldMk cId="1659793829" sldId="359"/>
        </pc:sldMkLst>
      </pc:sldChg>
      <pc:sldChg chg="addSp delSp modSp new mod setBg">
        <pc:chgData name="jeny mistry" userId="e723c2a31897706a" providerId="LiveId" clId="{9DCDD9F8-F832-4504-AE22-0ED870EF34DC}" dt="2026-02-17T17:36:34.918" v="11" actId="5793"/>
        <pc:sldMkLst>
          <pc:docMk/>
          <pc:sldMk cId="2736064047" sldId="359"/>
        </pc:sldMkLst>
        <pc:spChg chg="del">
          <ac:chgData name="jeny mistry" userId="e723c2a31897706a" providerId="LiveId" clId="{9DCDD9F8-F832-4504-AE22-0ED870EF34DC}" dt="2026-02-17T17:35:49.652" v="6" actId="478"/>
          <ac:spMkLst>
            <pc:docMk/>
            <pc:sldMk cId="2736064047" sldId="359"/>
            <ac:spMk id="2" creationId="{1512F3E3-C51E-7466-9946-C1928DE6F3C8}"/>
          </ac:spMkLst>
        </pc:spChg>
        <pc:spChg chg="del">
          <ac:chgData name="jeny mistry" userId="e723c2a31897706a" providerId="LiveId" clId="{9DCDD9F8-F832-4504-AE22-0ED870EF34DC}" dt="2026-02-17T17:35:50.845" v="7" actId="478"/>
          <ac:spMkLst>
            <pc:docMk/>
            <pc:sldMk cId="2736064047" sldId="359"/>
            <ac:spMk id="3" creationId="{E68D8705-67DE-C9DF-7628-E02331A018D2}"/>
          </ac:spMkLst>
        </pc:spChg>
        <pc:spChg chg="add mod">
          <ac:chgData name="jeny mistry" userId="e723c2a31897706a" providerId="LiveId" clId="{9DCDD9F8-F832-4504-AE22-0ED870EF34DC}" dt="2026-02-17T17:36:24.678" v="10" actId="12"/>
          <ac:spMkLst>
            <pc:docMk/>
            <pc:sldMk cId="2736064047" sldId="359"/>
            <ac:spMk id="4" creationId="{D335B1DC-88F1-4860-4672-2AB47E2630A6}"/>
          </ac:spMkLst>
        </pc:spChg>
        <pc:spChg chg="add mod">
          <ac:chgData name="jeny mistry" userId="e723c2a31897706a" providerId="LiveId" clId="{9DCDD9F8-F832-4504-AE22-0ED870EF34DC}" dt="2026-02-17T17:36:34.918" v="11" actId="5793"/>
          <ac:spMkLst>
            <pc:docMk/>
            <pc:sldMk cId="2736064047" sldId="359"/>
            <ac:spMk id="5" creationId="{39B5D393-696D-A8F2-1602-2E03D2CDEFD3}"/>
          </ac:spMkLst>
        </pc:spChg>
      </pc:sldChg>
      <pc:sldChg chg="addSp modSp new del mod modClrScheme chgLayout">
        <pc:chgData name="jeny mistry" userId="e723c2a31897706a" providerId="LiveId" clId="{9DCDD9F8-F832-4504-AE22-0ED870EF34DC}" dt="2026-02-17T17:35:32.968" v="4" actId="47"/>
        <pc:sldMkLst>
          <pc:docMk/>
          <pc:sldMk cId="255982302" sldId="360"/>
        </pc:sldMkLst>
        <pc:spChg chg="add mod">
          <ac:chgData name="jeny mistry" userId="e723c2a31897706a" providerId="LiveId" clId="{9DCDD9F8-F832-4504-AE22-0ED870EF34DC}" dt="2026-02-17T17:35:24.654" v="2" actId="700"/>
          <ac:spMkLst>
            <pc:docMk/>
            <pc:sldMk cId="255982302" sldId="360"/>
            <ac:spMk id="2" creationId="{92DE66A7-DC8E-1793-C051-521050F2F539}"/>
          </ac:spMkLst>
        </pc:spChg>
        <pc:spChg chg="add mod">
          <ac:chgData name="jeny mistry" userId="e723c2a31897706a" providerId="LiveId" clId="{9DCDD9F8-F832-4504-AE22-0ED870EF34DC}" dt="2026-02-17T17:35:24.654" v="2" actId="700"/>
          <ac:spMkLst>
            <pc:docMk/>
            <pc:sldMk cId="255982302" sldId="360"/>
            <ac:spMk id="3" creationId="{0D307E8A-B09D-0AC8-CCC2-EA80AC31A71A}"/>
          </ac:spMkLst>
        </pc:spChg>
      </pc:sldChg>
      <pc:sldMasterChg chg="delSldLayout">
        <pc:chgData name="jeny mistry" userId="e723c2a31897706a" providerId="LiveId" clId="{9DCDD9F8-F832-4504-AE22-0ED870EF34DC}" dt="2026-02-17T17:36:38.330" v="12" actId="47"/>
        <pc:sldMasterMkLst>
          <pc:docMk/>
          <pc:sldMasterMk cId="1049571112" sldId="2147483648"/>
        </pc:sldMasterMkLst>
        <pc:sldLayoutChg chg="del">
          <pc:chgData name="jeny mistry" userId="e723c2a31897706a" providerId="LiveId" clId="{9DCDD9F8-F832-4504-AE22-0ED870EF34DC}" dt="2026-02-17T17:36:38.330" v="12" actId="47"/>
          <pc:sldLayoutMkLst>
            <pc:docMk/>
            <pc:sldMasterMk cId="1049571112" sldId="2147483648"/>
            <pc:sldLayoutMk cId="4079043311" sldId="2147483661"/>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E5068A-7C32-41BE-897B-8D92F5FF7588}" type="datetimeFigureOut">
              <a:rPr lang="en-US" smtClean="0"/>
              <a:t>2/17/2026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D4FF8C-0840-41F1-9159-F393BD4E9787}" type="slidenum">
              <a:rPr lang="en-US" smtClean="0"/>
              <a:t>‹#›</a:t>
            </a:fld>
            <a:endParaRPr lang="en-US"/>
          </a:p>
        </p:txBody>
      </p:sp>
    </p:spTree>
    <p:extLst>
      <p:ext uri="{BB962C8B-B14F-4D97-AF65-F5344CB8AC3E}">
        <p14:creationId xmlns:p14="http://schemas.microsoft.com/office/powerpoint/2010/main" val="5355518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5784370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2684567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latin typeface="Calibri"/>
                <a:ea typeface="Calibri"/>
                <a:cs typeface="Calibri"/>
              </a:rPr>
              <a:t>Credit limits will increase soon for start service as arrears over limit is around 18% of total errors. There were bugs with </a:t>
            </a:r>
            <a:r>
              <a:rPr lang="en-US" err="1">
                <a:latin typeface="Calibri"/>
                <a:ea typeface="Calibri"/>
                <a:cs typeface="Calibri"/>
              </a:rPr>
              <a:t>addres</a:t>
            </a:r>
            <a:r>
              <a:rPr lang="en-US">
                <a:latin typeface="Calibri"/>
                <a:ea typeface="Calibri"/>
                <a:cs typeface="Calibri"/>
              </a:rPr>
              <a:t> look up as we see the </a:t>
            </a:r>
            <a:r>
              <a:rPr lang="en-US" err="1">
                <a:latin typeface="Calibri"/>
                <a:ea typeface="Calibri"/>
                <a:cs typeface="Calibri"/>
              </a:rPr>
              <a:t>erros</a:t>
            </a:r>
            <a:r>
              <a:rPr lang="en-US">
                <a:latin typeface="Calibri"/>
                <a:ea typeface="Calibri"/>
                <a:cs typeface="Calibri"/>
              </a:rPr>
              <a:t> going up from May to October 2024.</a:t>
            </a:r>
          </a:p>
        </p:txBody>
      </p:sp>
    </p:spTree>
    <p:extLst>
      <p:ext uri="{BB962C8B-B14F-4D97-AF65-F5344CB8AC3E}">
        <p14:creationId xmlns:p14="http://schemas.microsoft.com/office/powerpoint/2010/main" val="31754049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a:r>
              <a:rPr lang="en-US">
                <a:latin typeface="Calibri"/>
                <a:ea typeface="Calibri"/>
                <a:cs typeface="Calibri"/>
              </a:rPr>
              <a:t>Account with 0 arrears are opportunity for dcx that are missed.   Majority of new customer who are 0-3 years seems to rely more on CSR channel. Missed opportunity is new customers 99k +78K with no arrears on the account. How do we get to them? 85k for residential and 27k for Non res, &gt;3k.  2k over 3k and 7k over 3 for non-res</a:t>
            </a:r>
            <a:endParaRPr lang="en-US">
              <a:solidFill>
                <a:srgbClr val="000000"/>
              </a:solidFill>
              <a:ea typeface="Calibri"/>
              <a:cs typeface="Calibri"/>
            </a:endParaRPr>
          </a:p>
        </p:txBody>
      </p:sp>
    </p:spTree>
    <p:extLst>
      <p:ext uri="{BB962C8B-B14F-4D97-AF65-F5344CB8AC3E}">
        <p14:creationId xmlns:p14="http://schemas.microsoft.com/office/powerpoint/2010/main" val="701278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As a customer with 2 to 6 service accounts, I find the Account Focus feature frustrating because it directs me to a single bill payment view. I wish I could access the Pay Multiple Bills page directly, like customers with 7 or more accounts, to manage my payments more easily.</a:t>
            </a:r>
          </a:p>
        </p:txBody>
      </p:sp>
    </p:spTree>
    <p:extLst>
      <p:ext uri="{BB962C8B-B14F-4D97-AF65-F5344CB8AC3E}">
        <p14:creationId xmlns:p14="http://schemas.microsoft.com/office/powerpoint/2010/main" val="5426031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03504" y="770467"/>
            <a:ext cx="10782300" cy="3352800"/>
          </a:xfrm>
        </p:spPr>
        <p:txBody>
          <a:bodyPr anchor="b">
            <a:noAutofit/>
          </a:bodyPr>
          <a:lstStyle>
            <a:lvl1pPr algn="l">
              <a:lnSpc>
                <a:spcPct val="80000"/>
              </a:lnSpc>
              <a:defRPr sz="8800" spc="-12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667512" y="4206876"/>
            <a:ext cx="9228201" cy="1645920"/>
          </a:xfrm>
        </p:spPr>
        <p:txBody>
          <a:bodyPr>
            <a:normAutofit/>
          </a:bodyPr>
          <a:lstStyle>
            <a:lvl1pPr marL="0" indent="0" algn="l">
              <a:buNone/>
              <a:defRPr sz="3200">
                <a:solidFill>
                  <a:schemeClr val="bg1"/>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lvl1pPr>
              <a:defRPr>
                <a:solidFill>
                  <a:srgbClr val="FFFFFF">
                    <a:alpha val="80000"/>
                  </a:srgbClr>
                </a:solidFill>
              </a:defRPr>
            </a:lvl1pPr>
          </a:lstStyle>
          <a:p>
            <a:fld id="{4BC91168-9018-4B71-AB4A-E01C1B9F40D1}" type="datetimeFigureOut">
              <a:rPr lang="en-US" smtClean="0"/>
              <a:t>2/17/2026</a:t>
            </a:fld>
            <a:endParaRPr lang="en-US"/>
          </a:p>
        </p:txBody>
      </p:sp>
      <p:sp>
        <p:nvSpPr>
          <p:cNvPr id="8" name="Footer Placeholder 7"/>
          <p:cNvSpPr>
            <a:spLocks noGrp="1"/>
          </p:cNvSpPr>
          <p:nvPr>
            <p:ph type="ftr" sz="quarter" idx="11"/>
          </p:nvPr>
        </p:nvSpPr>
        <p:spPr/>
        <p:txBody>
          <a:bodyPr/>
          <a:lstStyle>
            <a:lvl1pPr>
              <a:defRPr>
                <a:solidFill>
                  <a:srgbClr val="FFFFFF">
                    <a:alpha val="80000"/>
                  </a:srgbClr>
                </a:solidFill>
              </a:defRPr>
            </a:lvl1pPr>
          </a:lstStyle>
          <a:p>
            <a:endParaRPr lang="en-US"/>
          </a:p>
        </p:txBody>
      </p:sp>
      <p:sp>
        <p:nvSpPr>
          <p:cNvPr id="9" name="Slide Number Placeholder 8"/>
          <p:cNvSpPr>
            <a:spLocks noGrp="1"/>
          </p:cNvSpPr>
          <p:nvPr>
            <p:ph type="sldNum" sz="quarter" idx="12"/>
          </p:nvPr>
        </p:nvSpPr>
        <p:spPr/>
        <p:txBody>
          <a:bodyPr/>
          <a:lstStyle>
            <a:lvl1pPr>
              <a:defRPr>
                <a:solidFill>
                  <a:srgbClr val="FFFFFF">
                    <a:alpha val="25000"/>
                  </a:srgbClr>
                </a:solidFill>
              </a:defRPr>
            </a:lvl1pPr>
          </a:lstStyle>
          <a:p>
            <a:fld id="{B3ED78F3-8EA8-4CE3-BA72-526A2D9B5FC3}" type="slidenum">
              <a:rPr lang="en-US" smtClean="0"/>
              <a:t>‹#›</a:t>
            </a:fld>
            <a:endParaRPr lang="en-US"/>
          </a:p>
        </p:txBody>
      </p:sp>
    </p:spTree>
    <p:extLst>
      <p:ext uri="{BB962C8B-B14F-4D97-AF65-F5344CB8AC3E}">
        <p14:creationId xmlns:p14="http://schemas.microsoft.com/office/powerpoint/2010/main" val="38828828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91168-9018-4B71-AB4A-E01C1B9F40D1}" type="datetimeFigureOut">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ED78F3-8EA8-4CE3-BA72-526A2D9B5FC3}" type="slidenum">
              <a:rPr lang="en-US" smtClean="0"/>
              <a:t>‹#›</a:t>
            </a:fld>
            <a:endParaRPr lang="en-US"/>
          </a:p>
        </p:txBody>
      </p:sp>
    </p:spTree>
    <p:extLst>
      <p:ext uri="{BB962C8B-B14F-4D97-AF65-F5344CB8AC3E}">
        <p14:creationId xmlns:p14="http://schemas.microsoft.com/office/powerpoint/2010/main" val="2136654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3504" y="767419"/>
            <a:ext cx="10780776" cy="3355848"/>
          </a:xfrm>
        </p:spPr>
        <p:txBody>
          <a:bodyPr anchor="b">
            <a:normAutofit/>
          </a:bodyPr>
          <a:lstStyle>
            <a:lvl1pPr>
              <a:lnSpc>
                <a:spcPct val="80000"/>
              </a:lnSpc>
              <a:defRPr sz="8800" b="0" baseline="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667512" y="4204209"/>
            <a:ext cx="9226296" cy="1645920"/>
          </a:xfrm>
        </p:spPr>
        <p:txBody>
          <a:bodyPr anchor="t">
            <a:normAutofit/>
          </a:bodyPr>
          <a:lstStyle>
            <a:lvl1pPr marL="0" indent="0">
              <a:buNone/>
              <a:defRPr sz="3200">
                <a:solidFill>
                  <a:schemeClr val="tx1"/>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BC91168-9018-4B71-AB4A-E01C1B9F40D1}" type="datetimeFigureOut">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ED78F3-8EA8-4CE3-BA72-526A2D9B5FC3}" type="slidenum">
              <a:rPr lang="en-US" smtClean="0"/>
              <a:t>‹#›</a:t>
            </a:fld>
            <a:endParaRPr lang="en-US"/>
          </a:p>
        </p:txBody>
      </p:sp>
    </p:spTree>
    <p:extLst>
      <p:ext uri="{BB962C8B-B14F-4D97-AF65-F5344CB8AC3E}">
        <p14:creationId xmlns:p14="http://schemas.microsoft.com/office/powerpoint/2010/main" val="6535441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6656"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11330"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BC91168-9018-4B71-AB4A-E01C1B9F40D1}" type="datetimeFigureOut">
              <a:rPr lang="en-US" smtClean="0"/>
              <a:t>2/17/2026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ED78F3-8EA8-4CE3-BA72-526A2D9B5FC3}" type="slidenum">
              <a:rPr lang="en-US" smtClean="0"/>
              <a:t>‹#›</a:t>
            </a:fld>
            <a:endParaRPr lang="en-US"/>
          </a:p>
        </p:txBody>
      </p:sp>
    </p:spTree>
    <p:extLst>
      <p:ext uri="{BB962C8B-B14F-4D97-AF65-F5344CB8AC3E}">
        <p14:creationId xmlns:p14="http://schemas.microsoft.com/office/powerpoint/2010/main" val="18809434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676656" y="2040467"/>
            <a:ext cx="4663440" cy="723400"/>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6656" y="2753084"/>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07608" y="2038435"/>
            <a:ext cx="4663440" cy="722376"/>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007608" y="2750990"/>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BC91168-9018-4B71-AB4A-E01C1B9F40D1}" type="datetimeFigureOut">
              <a:rPr lang="en-US" smtClean="0"/>
              <a:t>2/17/2026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3ED78F3-8EA8-4CE3-BA72-526A2D9B5FC3}" type="slidenum">
              <a:rPr lang="en-US" smtClean="0"/>
              <a:t>‹#›</a:t>
            </a:fld>
            <a:endParaRPr lang="en-US"/>
          </a:p>
        </p:txBody>
      </p:sp>
    </p:spTree>
    <p:extLst>
      <p:ext uri="{BB962C8B-B14F-4D97-AF65-F5344CB8AC3E}">
        <p14:creationId xmlns:p14="http://schemas.microsoft.com/office/powerpoint/2010/main" val="4850860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BC91168-9018-4B71-AB4A-E01C1B9F40D1}" type="datetimeFigureOut">
              <a:rPr lang="en-US" smtClean="0"/>
              <a:t>2/17/2026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ED78F3-8EA8-4CE3-BA72-526A2D9B5FC3}" type="slidenum">
              <a:rPr lang="en-US" smtClean="0"/>
              <a:t>‹#›</a:t>
            </a:fld>
            <a:endParaRPr lang="en-US"/>
          </a:p>
        </p:txBody>
      </p:sp>
    </p:spTree>
    <p:extLst>
      <p:ext uri="{BB962C8B-B14F-4D97-AF65-F5344CB8AC3E}">
        <p14:creationId xmlns:p14="http://schemas.microsoft.com/office/powerpoint/2010/main" val="39745233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BC91168-9018-4B71-AB4A-E01C1B9F40D1}" type="datetimeFigureOut">
              <a:rPr lang="en-US" smtClean="0"/>
              <a:t>2/17/2026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3ED78F3-8EA8-4CE3-BA72-526A2D9B5FC3}" type="slidenum">
              <a:rPr lang="en-US" smtClean="0"/>
              <a:t>‹#›</a:t>
            </a:fld>
            <a:endParaRPr lang="en-US"/>
          </a:p>
        </p:txBody>
      </p:sp>
    </p:spTree>
    <p:extLst>
      <p:ext uri="{BB962C8B-B14F-4D97-AF65-F5344CB8AC3E}">
        <p14:creationId xmlns:p14="http://schemas.microsoft.com/office/powerpoint/2010/main" val="8619909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Rectangle 1"/>
          <p:cNvSpPr/>
          <p:nvPr/>
        </p:nvSpPr>
        <p:spPr>
          <a:xfrm>
            <a:off x="7620000" y="0"/>
            <a:ext cx="457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Title 8"/>
          <p:cNvSpPr>
            <a:spLocks noGrp="1"/>
          </p:cNvSpPr>
          <p:nvPr>
            <p:ph type="title"/>
          </p:nvPr>
        </p:nvSpPr>
        <p:spPr>
          <a:xfrm>
            <a:off x="8261404" y="542282"/>
            <a:ext cx="3383280" cy="1920240"/>
          </a:xfrm>
        </p:spPr>
        <p:txBody>
          <a:bodyPr anchor="b">
            <a:noAutofit/>
          </a:bodyPr>
          <a:lstStyle>
            <a:lvl1pPr>
              <a:lnSpc>
                <a:spcPct val="85000"/>
              </a:lnSpc>
              <a:defRPr sz="400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762000" y="762000"/>
            <a:ext cx="6096000" cy="4572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275982" y="2511813"/>
            <a:ext cx="3398520" cy="3126987"/>
          </a:xfrm>
        </p:spPr>
        <p:txBody>
          <a:bodyPr>
            <a:normAutofit/>
          </a:bodyPr>
          <a:lstStyle>
            <a:lvl1pPr marL="0" marR="0" indent="0" algn="l" defTabSz="914400" rtl="0" eaLnBrk="1" fontAlgn="auto" latinLnBrk="0" hangingPunct="1">
              <a:lnSpc>
                <a:spcPct val="100000"/>
              </a:lnSpc>
              <a:spcBef>
                <a:spcPts val="1200"/>
              </a:spcBef>
              <a:spcAft>
                <a:spcPts val="0"/>
              </a:spcAft>
              <a:buClrTx/>
              <a:buSzTx/>
              <a:buFontTx/>
              <a:buNone/>
              <a:tabLst/>
              <a:defRPr sz="18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1400"/>
              </a:spcBef>
              <a:spcAft>
                <a:spcPts val="0"/>
              </a:spcAft>
              <a:buClrTx/>
              <a:buSzTx/>
              <a:buFontTx/>
              <a:buNone/>
              <a:tabLst/>
              <a:defRPr/>
            </a:pPr>
            <a:r>
              <a:rPr lang="en-US"/>
              <a:t>Click to edit Master text styles</a:t>
            </a:r>
          </a:p>
        </p:txBody>
      </p:sp>
      <p:sp>
        <p:nvSpPr>
          <p:cNvPr id="5" name="Date Placeholder 4"/>
          <p:cNvSpPr>
            <a:spLocks noGrp="1"/>
          </p:cNvSpPr>
          <p:nvPr>
            <p:ph type="dt" sz="half" idx="10"/>
          </p:nvPr>
        </p:nvSpPr>
        <p:spPr/>
        <p:txBody>
          <a:bodyPr/>
          <a:lstStyle/>
          <a:p>
            <a:fld id="{4BC91168-9018-4B71-AB4A-E01C1B9F40D1}" type="datetimeFigureOut">
              <a:rPr lang="en-US" smtClean="0"/>
              <a:t>2/17/2026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B3ED78F3-8EA8-4CE3-BA72-526A2D9B5FC3}" type="slidenum">
              <a:rPr lang="en-US" smtClean="0"/>
              <a:t>‹#›</a:t>
            </a:fld>
            <a:endParaRPr lang="en-US"/>
          </a:p>
        </p:txBody>
      </p:sp>
    </p:spTree>
    <p:extLst>
      <p:ext uri="{BB962C8B-B14F-4D97-AF65-F5344CB8AC3E}">
        <p14:creationId xmlns:p14="http://schemas.microsoft.com/office/powerpoint/2010/main" val="33704523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49224" y="5418667"/>
            <a:ext cx="10780776" cy="613283"/>
          </a:xfrm>
        </p:spPr>
        <p:txBody>
          <a:bodyPr anchor="b">
            <a:normAutofit/>
          </a:bodyPr>
          <a:lstStyle>
            <a:lvl1pPr>
              <a:defRPr sz="32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2192000" cy="5330952"/>
          </a:xfrm>
          <a:solidFill>
            <a:schemeClr val="accent1">
              <a:lumMod val="40000"/>
              <a:lumOff val="60000"/>
            </a:schemeClr>
          </a:solidFill>
        </p:spPr>
        <p:txBody>
          <a:bodyPr anchor="t"/>
          <a:lstStyle>
            <a:lvl1pPr marL="0" indent="0" algn="ctr">
              <a:spcBef>
                <a:spcPts val="800"/>
              </a:spcBef>
              <a:buNone/>
              <a:defRPr sz="3200">
                <a:solidFill>
                  <a:schemeClr val="tx1">
                    <a:lumMod val="75000"/>
                    <a:lumOff val="2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76656" y="5909735"/>
            <a:ext cx="9229344" cy="533400"/>
          </a:xfrm>
        </p:spPr>
        <p:txBody>
          <a:bodyPr>
            <a:normAutofit/>
          </a:bodyPr>
          <a:lstStyle>
            <a:lvl1pPr marL="0" indent="0">
              <a:lnSpc>
                <a:spcPct val="90000"/>
              </a:lnSpc>
              <a:buNone/>
              <a:defRPr sz="14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2" name="Date Placeholder 11"/>
          <p:cNvSpPr>
            <a:spLocks noGrp="1"/>
          </p:cNvSpPr>
          <p:nvPr>
            <p:ph type="dt" sz="half" idx="10"/>
          </p:nvPr>
        </p:nvSpPr>
        <p:spPr/>
        <p:txBody>
          <a:bodyPr/>
          <a:lstStyle>
            <a:lvl1pPr>
              <a:defRPr>
                <a:solidFill>
                  <a:srgbClr val="FFFFFF">
                    <a:alpha val="80000"/>
                  </a:srgbClr>
                </a:solidFill>
              </a:defRPr>
            </a:lvl1pPr>
          </a:lstStyle>
          <a:p>
            <a:fld id="{4BC91168-9018-4B71-AB4A-E01C1B9F40D1}" type="datetimeFigureOut">
              <a:rPr lang="en-US" smtClean="0"/>
              <a:t>2/17/2026</a:t>
            </a:fld>
            <a:endParaRPr lang="en-US"/>
          </a:p>
        </p:txBody>
      </p:sp>
      <p:sp>
        <p:nvSpPr>
          <p:cNvPr id="13" name="Footer Placeholder 12"/>
          <p:cNvSpPr>
            <a:spLocks noGrp="1"/>
          </p:cNvSpPr>
          <p:nvPr>
            <p:ph type="ftr" sz="quarter" idx="11"/>
          </p:nvPr>
        </p:nvSpPr>
        <p:spPr/>
        <p:txBody>
          <a:bodyPr/>
          <a:lstStyle>
            <a:lvl1pPr>
              <a:defRPr>
                <a:solidFill>
                  <a:srgbClr val="FFFFFF">
                    <a:alpha val="80000"/>
                  </a:srgbClr>
                </a:solidFill>
              </a:defRPr>
            </a:lvl1pPr>
          </a:lstStyle>
          <a:p>
            <a:endParaRPr lang="en-US"/>
          </a:p>
        </p:txBody>
      </p:sp>
      <p:sp>
        <p:nvSpPr>
          <p:cNvPr id="14" name="Slide Number Placeholder 13"/>
          <p:cNvSpPr>
            <a:spLocks noGrp="1"/>
          </p:cNvSpPr>
          <p:nvPr>
            <p:ph type="sldNum" sz="quarter" idx="12"/>
          </p:nvPr>
        </p:nvSpPr>
        <p:spPr/>
        <p:txBody>
          <a:bodyPr/>
          <a:lstStyle>
            <a:lvl1pPr>
              <a:defRPr>
                <a:solidFill>
                  <a:srgbClr val="FFFFFF">
                    <a:alpha val="25000"/>
                  </a:srgbClr>
                </a:solidFill>
              </a:defRPr>
            </a:lvl1pPr>
          </a:lstStyle>
          <a:p>
            <a:fld id="{B3ED78F3-8EA8-4CE3-BA72-526A2D9B5FC3}" type="slidenum">
              <a:rPr lang="en-US" smtClean="0"/>
              <a:t>‹#›</a:t>
            </a:fld>
            <a:endParaRPr lang="en-US"/>
          </a:p>
        </p:txBody>
      </p:sp>
    </p:spTree>
    <p:extLst>
      <p:ext uri="{BB962C8B-B14F-4D97-AF65-F5344CB8AC3E}">
        <p14:creationId xmlns:p14="http://schemas.microsoft.com/office/powerpoint/2010/main" val="1685011583"/>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91168-9018-4B71-AB4A-E01C1B9F40D1}" type="datetimeFigureOut">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ED78F3-8EA8-4CE3-BA72-526A2D9B5FC3}" type="slidenum">
              <a:rPr lang="en-US" smtClean="0"/>
              <a:t>‹#›</a:t>
            </a:fld>
            <a:endParaRPr lang="en-US"/>
          </a:p>
        </p:txBody>
      </p:sp>
    </p:spTree>
    <p:extLst>
      <p:ext uri="{BB962C8B-B14F-4D97-AF65-F5344CB8AC3E}">
        <p14:creationId xmlns:p14="http://schemas.microsoft.com/office/powerpoint/2010/main" val="2959656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43950" y="695325"/>
            <a:ext cx="2628900" cy="48006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1525" y="714375"/>
            <a:ext cx="7734300" cy="54006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91168-9018-4B71-AB4A-E01C1B9F40D1}" type="datetimeFigureOut">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ED78F3-8EA8-4CE3-BA72-526A2D9B5FC3}" type="slidenum">
              <a:rPr lang="en-US" smtClean="0"/>
              <a:t>‹#›</a:t>
            </a:fld>
            <a:endParaRPr lang="en-US"/>
          </a:p>
        </p:txBody>
      </p:sp>
    </p:spTree>
    <p:extLst>
      <p:ext uri="{BB962C8B-B14F-4D97-AF65-F5344CB8AC3E}">
        <p14:creationId xmlns:p14="http://schemas.microsoft.com/office/powerpoint/2010/main" val="34046139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Standard Slide with Breadcrumb">
    <p:bg>
      <p:bgPr>
        <a:solidFill>
          <a:schemeClr val="bg1"/>
        </a:solidFill>
        <a:effectLst/>
      </p:bgPr>
    </p:bg>
    <p:spTree>
      <p:nvGrpSpPr>
        <p:cNvPr id="1" name=""/>
        <p:cNvGrpSpPr/>
        <p:nvPr/>
      </p:nvGrpSpPr>
      <p:grpSpPr>
        <a:xfrm>
          <a:off x="0" y="0"/>
          <a:ext cx="0" cy="0"/>
          <a:chOff x="0" y="0"/>
          <a:chExt cx="0" cy="0"/>
        </a:xfrm>
      </p:grpSpPr>
      <p:sp>
        <p:nvSpPr>
          <p:cNvPr id="49" name="Text Placeholder 22">
            <a:extLst>
              <a:ext uri="{FF2B5EF4-FFF2-40B4-BE49-F238E27FC236}">
                <a16:creationId xmlns:a16="http://schemas.microsoft.com/office/drawing/2014/main" id="{C9094DED-F9C9-DF89-0BCD-FE336C738FE0}"/>
              </a:ext>
            </a:extLst>
          </p:cNvPr>
          <p:cNvSpPr>
            <a:spLocks noGrp="1"/>
          </p:cNvSpPr>
          <p:nvPr>
            <p:ph type="body" sz="quarter" idx="41" hasCustomPrompt="1"/>
          </p:nvPr>
        </p:nvSpPr>
        <p:spPr>
          <a:xfrm>
            <a:off x="571500" y="508782"/>
            <a:ext cx="4084320" cy="152400"/>
          </a:xfrm>
        </p:spPr>
        <p:txBody>
          <a:bodyPr anchor="t">
            <a:noAutofit/>
          </a:bodyPr>
          <a:lstStyle>
            <a:lvl1pPr marL="0" indent="0" algn="l">
              <a:lnSpc>
                <a:spcPct val="90000"/>
              </a:lnSpc>
              <a:buNone/>
              <a:defRPr sz="1200" b="1" i="0">
                <a:solidFill>
                  <a:srgbClr val="636363"/>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pPr lvl="0"/>
            <a:r>
              <a:rPr lang="en-US"/>
              <a:t>BREADCRUMB</a:t>
            </a:r>
          </a:p>
        </p:txBody>
      </p:sp>
      <p:sp>
        <p:nvSpPr>
          <p:cNvPr id="28" name="Text Placeholder 22">
            <a:extLst>
              <a:ext uri="{FF2B5EF4-FFF2-40B4-BE49-F238E27FC236}">
                <a16:creationId xmlns:a16="http://schemas.microsoft.com/office/drawing/2014/main" id="{762F3095-ACCA-BB31-237E-3FEB7A705EC3}"/>
              </a:ext>
            </a:extLst>
          </p:cNvPr>
          <p:cNvSpPr>
            <a:spLocks noGrp="1"/>
          </p:cNvSpPr>
          <p:nvPr>
            <p:ph type="body" sz="quarter" idx="42" hasCustomPrompt="1"/>
          </p:nvPr>
        </p:nvSpPr>
        <p:spPr>
          <a:xfrm>
            <a:off x="571500" y="745589"/>
            <a:ext cx="8727245" cy="303628"/>
          </a:xfrm>
        </p:spPr>
        <p:txBody>
          <a:bodyPr anchor="t">
            <a:noAutofit/>
          </a:bodyPr>
          <a:lstStyle>
            <a:lvl1pPr marL="0" indent="0" algn="l">
              <a:lnSpc>
                <a:spcPct val="90000"/>
              </a:lnSpc>
              <a:buNone/>
              <a:defRPr sz="2400" b="1" i="0">
                <a:solidFill>
                  <a:schemeClr val="tx1"/>
                </a:solidFill>
                <a:latin typeface="Lexend" pitchFamily="2" charset="77"/>
              </a:defRPr>
            </a:lvl1pPr>
          </a:lstStyle>
          <a:p>
            <a:pPr lvl="0"/>
            <a:r>
              <a:rPr lang="en-US"/>
              <a:t>Headline goes here…</a:t>
            </a:r>
          </a:p>
        </p:txBody>
      </p:sp>
    </p:spTree>
    <p:extLst>
      <p:ext uri="{BB962C8B-B14F-4D97-AF65-F5344CB8AC3E}">
        <p14:creationId xmlns:p14="http://schemas.microsoft.com/office/powerpoint/2010/main" val="471507454"/>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7224" y="499533"/>
            <a:ext cx="10772775" cy="165819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76656" y="2011680"/>
            <a:ext cx="10753725" cy="376618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5800" y="6412447"/>
            <a:ext cx="4114800" cy="228600"/>
          </a:xfrm>
          <a:prstGeom prst="rect">
            <a:avLst/>
          </a:prstGeom>
        </p:spPr>
        <p:txBody>
          <a:bodyPr vert="horz" lIns="91440" tIns="45720" rIns="91440" bIns="45720" rtlCol="0" anchor="ctr"/>
          <a:lstStyle>
            <a:lvl1pPr algn="l">
              <a:defRPr sz="950">
                <a:solidFill>
                  <a:schemeClr val="tx1">
                    <a:alpha val="80000"/>
                  </a:schemeClr>
                </a:solidFill>
              </a:defRPr>
            </a:lvl1pPr>
          </a:lstStyle>
          <a:p>
            <a:fld id="{4BC91168-9018-4B71-AB4A-E01C1B9F40D1}" type="datetimeFigureOut">
              <a:rPr lang="en-US" smtClean="0"/>
              <a:t>2/17/2026</a:t>
            </a:fld>
            <a:endParaRPr lang="en-US"/>
          </a:p>
        </p:txBody>
      </p:sp>
      <p:sp>
        <p:nvSpPr>
          <p:cNvPr id="5" name="Footer Placeholder 4"/>
          <p:cNvSpPr>
            <a:spLocks noGrp="1"/>
          </p:cNvSpPr>
          <p:nvPr>
            <p:ph type="ftr" sz="quarter" idx="3"/>
          </p:nvPr>
        </p:nvSpPr>
        <p:spPr>
          <a:xfrm>
            <a:off x="685800" y="6554697"/>
            <a:ext cx="5029200" cy="228600"/>
          </a:xfrm>
          <a:prstGeom prst="rect">
            <a:avLst/>
          </a:prstGeom>
        </p:spPr>
        <p:txBody>
          <a:bodyPr vert="horz" lIns="91440" tIns="45720" rIns="91440" bIns="45720" rtlCol="0" anchor="ctr"/>
          <a:lstStyle>
            <a:lvl1pPr algn="l">
              <a:defRPr sz="950" cap="all" baseline="0">
                <a:solidFill>
                  <a:schemeClr val="tx1">
                    <a:alpha val="80000"/>
                  </a:schemeClr>
                </a:solidFill>
              </a:defRPr>
            </a:lvl1pPr>
          </a:lstStyle>
          <a:p>
            <a:endParaRPr lang="en-US"/>
          </a:p>
        </p:txBody>
      </p:sp>
      <p:sp>
        <p:nvSpPr>
          <p:cNvPr id="6" name="Slide Number Placeholder 5"/>
          <p:cNvSpPr>
            <a:spLocks noGrp="1"/>
          </p:cNvSpPr>
          <p:nvPr>
            <p:ph type="sldNum" sz="quarter" idx="4"/>
          </p:nvPr>
        </p:nvSpPr>
        <p:spPr>
          <a:xfrm>
            <a:off x="8763926" y="5876412"/>
            <a:ext cx="2926080" cy="1397039"/>
          </a:xfrm>
          <a:prstGeom prst="rect">
            <a:avLst/>
          </a:prstGeom>
        </p:spPr>
        <p:txBody>
          <a:bodyPr vert="horz" lIns="91440" tIns="45720" rIns="91440" bIns="45720" rtlCol="0" anchor="b"/>
          <a:lstStyle>
            <a:lvl1pPr algn="r">
              <a:defRPr sz="10300" b="0">
                <a:ln>
                  <a:noFill/>
                </a:ln>
                <a:solidFill>
                  <a:schemeClr val="accent1">
                    <a:alpha val="25000"/>
                  </a:schemeClr>
                </a:solidFill>
                <a:latin typeface="+mj-lt"/>
              </a:defRPr>
            </a:lvl1pPr>
          </a:lstStyle>
          <a:p>
            <a:fld id="{B3ED78F3-8EA8-4CE3-BA72-526A2D9B5FC3}" type="slidenum">
              <a:rPr lang="en-US" smtClean="0"/>
              <a:t>‹#›</a:t>
            </a:fld>
            <a:endParaRPr lang="en-US"/>
          </a:p>
        </p:txBody>
      </p:sp>
    </p:spTree>
    <p:extLst>
      <p:ext uri="{BB962C8B-B14F-4D97-AF65-F5344CB8AC3E}">
        <p14:creationId xmlns:p14="http://schemas.microsoft.com/office/powerpoint/2010/main" val="2924874810"/>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Lst>
  <p:txStyles>
    <p:title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p:titleStyle>
    <p:body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consolidatededison.sharepoint.com/:p:/r/dcxonline/Website%20ReDesign/Analytics%20and%20Insights%20Team/Feature%20Analysis/Start%20%26%20Stop%20Service/Start%20Services%20-%20A%26I%20Feature%20Analysis%20(March%202025).pptx?d=w60b4207e89b24b6cbcd793cba458f97a&amp;csf=1&amp;web=1&amp;e=EYO3nL" TargetMode="Externa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A223D-EEC8-8316-1A2D-AF17EAB285F5}"/>
              </a:ext>
            </a:extLst>
          </p:cNvPr>
          <p:cNvSpPr>
            <a:spLocks noGrp="1"/>
          </p:cNvSpPr>
          <p:nvPr>
            <p:ph type="ctrTitle"/>
          </p:nvPr>
        </p:nvSpPr>
        <p:spPr/>
        <p:txBody>
          <a:bodyPr/>
          <a:lstStyle/>
          <a:p>
            <a:r>
              <a:rPr lang="en-US" sz="6000" cap="none" dirty="0">
                <a:latin typeface="Open Sans Light"/>
                <a:ea typeface="Open Sans Light"/>
                <a:cs typeface="Open Sans Light"/>
              </a:rPr>
              <a:t>Analytics &amp; Insights</a:t>
            </a:r>
            <a:br>
              <a:rPr lang="en-US" sz="6000" cap="none" dirty="0">
                <a:latin typeface="Open Sans Light"/>
                <a:ea typeface="Open Sans Light"/>
                <a:cs typeface="Open Sans Light"/>
              </a:rPr>
            </a:br>
            <a:endParaRPr lang="en-US" dirty="0"/>
          </a:p>
        </p:txBody>
      </p:sp>
      <p:sp>
        <p:nvSpPr>
          <p:cNvPr id="3" name="Subtitle 2">
            <a:extLst>
              <a:ext uri="{FF2B5EF4-FFF2-40B4-BE49-F238E27FC236}">
                <a16:creationId xmlns:a16="http://schemas.microsoft.com/office/drawing/2014/main" id="{07053A29-43A0-F4B8-01C1-069D90D60A5C}"/>
              </a:ext>
            </a:extLst>
          </p:cNvPr>
          <p:cNvSpPr>
            <a:spLocks noGrp="1"/>
          </p:cNvSpPr>
          <p:nvPr>
            <p:ph type="subTitle" idx="1"/>
          </p:nvPr>
        </p:nvSpPr>
        <p:spPr/>
        <p:txBody>
          <a:bodyPr/>
          <a:lstStyle/>
          <a:p>
            <a:r>
              <a:rPr lang="en-US" sz="2400" b="1" dirty="0">
                <a:latin typeface="Lexend"/>
                <a:ea typeface="Open Sans"/>
                <a:cs typeface="Open Sans"/>
              </a:rPr>
              <a:t>Feature Analysis</a:t>
            </a:r>
            <a:br>
              <a:rPr lang="en-US" sz="2400" dirty="0">
                <a:latin typeface="Lexend" pitchFamily="2" charset="77"/>
              </a:rPr>
            </a:br>
            <a:r>
              <a:rPr lang="en-US" sz="2400" dirty="0">
                <a:latin typeface="Lexend"/>
                <a:ea typeface="Open Sans"/>
                <a:cs typeface="Open Sans"/>
              </a:rPr>
              <a:t>Service</a:t>
            </a:r>
          </a:p>
          <a:p>
            <a:endParaRPr lang="en-US" dirty="0"/>
          </a:p>
        </p:txBody>
      </p:sp>
    </p:spTree>
    <p:extLst>
      <p:ext uri="{BB962C8B-B14F-4D97-AF65-F5344CB8AC3E}">
        <p14:creationId xmlns:p14="http://schemas.microsoft.com/office/powerpoint/2010/main" val="34737382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14A8C-1E0B-A6D1-8C25-7E14C88189F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347CFA1-34A1-EEED-2A2F-357C812A4BDE}"/>
              </a:ext>
            </a:extLst>
          </p:cNvPr>
          <p:cNvSpPr>
            <a:spLocks noGrp="1"/>
          </p:cNvSpPr>
          <p:nvPr>
            <p:ph type="body" sz="quarter" idx="41"/>
          </p:nvPr>
        </p:nvSpPr>
        <p:spPr/>
        <p:txBody>
          <a:bodyPr/>
          <a:lstStyle/>
          <a:p>
            <a:r>
              <a:rPr lang="en-US"/>
              <a:t>FEATURE OVERVIEW</a:t>
            </a:r>
          </a:p>
        </p:txBody>
      </p:sp>
      <p:sp>
        <p:nvSpPr>
          <p:cNvPr id="3" name="Text Placeholder 2">
            <a:extLst>
              <a:ext uri="{FF2B5EF4-FFF2-40B4-BE49-F238E27FC236}">
                <a16:creationId xmlns:a16="http://schemas.microsoft.com/office/drawing/2014/main" id="{69E3CD12-709E-E6F0-2A06-AA449B19D04C}"/>
              </a:ext>
            </a:extLst>
          </p:cNvPr>
          <p:cNvSpPr>
            <a:spLocks noGrp="1"/>
          </p:cNvSpPr>
          <p:nvPr>
            <p:ph type="body" sz="quarter" idx="42"/>
          </p:nvPr>
        </p:nvSpPr>
        <p:spPr/>
        <p:txBody>
          <a:bodyPr/>
          <a:lstStyle/>
          <a:p>
            <a:r>
              <a:rPr lang="en-US"/>
              <a:t>December 2025 Update</a:t>
            </a:r>
          </a:p>
          <a:p>
            <a:endParaRPr lang="en-US"/>
          </a:p>
        </p:txBody>
      </p:sp>
      <p:sp>
        <p:nvSpPr>
          <p:cNvPr id="4" name="TextBox 3">
            <a:extLst>
              <a:ext uri="{FF2B5EF4-FFF2-40B4-BE49-F238E27FC236}">
                <a16:creationId xmlns:a16="http://schemas.microsoft.com/office/drawing/2014/main" id="{E229B23C-36B3-5C9B-2C3E-86EFD795ED03}"/>
              </a:ext>
            </a:extLst>
          </p:cNvPr>
          <p:cNvSpPr txBox="1"/>
          <p:nvPr/>
        </p:nvSpPr>
        <p:spPr>
          <a:xfrm>
            <a:off x="571500" y="1314450"/>
            <a:ext cx="9296400" cy="78996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r>
              <a:rPr lang="en-US" sz="1600" dirty="0">
                <a:ea typeface="+mn-lt"/>
                <a:cs typeface="+mn-lt"/>
              </a:rPr>
              <a:t>The Service feature analysis, presented in March 2025, has been updated in this deck to reflect 2025 data. </a:t>
            </a:r>
          </a:p>
          <a:p>
            <a:endParaRPr lang="en-US" sz="1600" dirty="0">
              <a:ea typeface="+mn-lt"/>
              <a:cs typeface="+mn-lt"/>
            </a:endParaRPr>
          </a:p>
          <a:p>
            <a:r>
              <a:rPr lang="en-US" sz="1600" dirty="0">
                <a:ea typeface="+mn-lt"/>
                <a:cs typeface="+mn-lt"/>
              </a:rPr>
              <a:t>Original presentation is linked here: </a:t>
            </a:r>
            <a:r>
              <a:rPr lang="en-US" sz="1600" dirty="0">
                <a:hlinkClick r:id="rId2"/>
              </a:rPr>
              <a:t>Start Services - A&amp;I Feature Analysis (March 2025).pptx</a:t>
            </a:r>
            <a:endParaRPr lang="en-US" sz="1600" dirty="0">
              <a:ea typeface="+mn-lt"/>
              <a:cs typeface="+mn-lt"/>
            </a:endParaRPr>
          </a:p>
        </p:txBody>
      </p:sp>
    </p:spTree>
    <p:extLst>
      <p:ext uri="{BB962C8B-B14F-4D97-AF65-F5344CB8AC3E}">
        <p14:creationId xmlns:p14="http://schemas.microsoft.com/office/powerpoint/2010/main" val="2510773787"/>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2">
            <a:lumMod val="50000"/>
            <a:lumOff val="50000"/>
          </a:schemeClr>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D335B1DC-88F1-4860-4672-2AB47E2630A6}"/>
              </a:ext>
            </a:extLst>
          </p:cNvPr>
          <p:cNvSpPr txBox="1">
            <a:spLocks/>
          </p:cNvSpPr>
          <p:nvPr/>
        </p:nvSpPr>
        <p:spPr>
          <a:xfrm>
            <a:off x="570018" y="2957909"/>
            <a:ext cx="696075" cy="94218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01</a:t>
            </a:r>
          </a:p>
        </p:txBody>
      </p:sp>
      <p:sp>
        <p:nvSpPr>
          <p:cNvPr id="5" name="Text Placeholder 2">
            <a:extLst>
              <a:ext uri="{FF2B5EF4-FFF2-40B4-BE49-F238E27FC236}">
                <a16:creationId xmlns:a16="http://schemas.microsoft.com/office/drawing/2014/main" id="{39B5D393-696D-A8F2-1602-2E03D2CDEFD3}"/>
              </a:ext>
            </a:extLst>
          </p:cNvPr>
          <p:cNvSpPr txBox="1">
            <a:spLocks/>
          </p:cNvSpPr>
          <p:nvPr/>
        </p:nvSpPr>
        <p:spPr>
          <a:xfrm>
            <a:off x="1266093" y="2957909"/>
            <a:ext cx="8524875" cy="94218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latin typeface="Lexend"/>
                <a:ea typeface="Open Sans"/>
                <a:cs typeface="Open Sans"/>
              </a:rPr>
              <a:t>Data Analysis</a:t>
            </a:r>
          </a:p>
        </p:txBody>
      </p:sp>
    </p:spTree>
    <p:extLst>
      <p:ext uri="{BB962C8B-B14F-4D97-AF65-F5344CB8AC3E}">
        <p14:creationId xmlns:p14="http://schemas.microsoft.com/office/powerpoint/2010/main" val="2736064047"/>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2E56FBF-8C64-D2F1-9C04-9FFBA4547EF3}"/>
              </a:ext>
            </a:extLst>
          </p:cNvPr>
          <p:cNvSpPr>
            <a:spLocks noGrp="1"/>
          </p:cNvSpPr>
          <p:nvPr>
            <p:ph type="body" sz="quarter" idx="41"/>
          </p:nvPr>
        </p:nvSpPr>
        <p:spPr/>
        <p:txBody>
          <a:bodyPr/>
          <a:lstStyle/>
          <a:p>
            <a:r>
              <a:rPr lang="en-US"/>
              <a:t>DATA ANALYSIS</a:t>
            </a:r>
          </a:p>
        </p:txBody>
      </p:sp>
      <p:sp>
        <p:nvSpPr>
          <p:cNvPr id="3" name="Text Placeholder 2">
            <a:extLst>
              <a:ext uri="{FF2B5EF4-FFF2-40B4-BE49-F238E27FC236}">
                <a16:creationId xmlns:a16="http://schemas.microsoft.com/office/drawing/2014/main" id="{276746B5-09AF-DB43-75E5-0F3F1B5E64A3}"/>
              </a:ext>
            </a:extLst>
          </p:cNvPr>
          <p:cNvSpPr>
            <a:spLocks noGrp="1"/>
          </p:cNvSpPr>
          <p:nvPr>
            <p:ph type="body" sz="quarter" idx="42"/>
          </p:nvPr>
        </p:nvSpPr>
        <p:spPr/>
        <p:txBody>
          <a:bodyPr/>
          <a:lstStyle/>
          <a:p>
            <a:r>
              <a:rPr lang="en-US">
                <a:latin typeface="Lexend"/>
                <a:ea typeface="Open Sans"/>
                <a:cs typeface="Open Sans"/>
              </a:rPr>
              <a:t>Executive Summary: 2025 updates</a:t>
            </a:r>
          </a:p>
        </p:txBody>
      </p:sp>
      <p:sp>
        <p:nvSpPr>
          <p:cNvPr id="7" name="TextBox 6">
            <a:extLst>
              <a:ext uri="{FF2B5EF4-FFF2-40B4-BE49-F238E27FC236}">
                <a16:creationId xmlns:a16="http://schemas.microsoft.com/office/drawing/2014/main" id="{9E9E8943-DC42-9C1A-79D4-4FE30D895C60}"/>
              </a:ext>
            </a:extLst>
          </p:cNvPr>
          <p:cNvSpPr txBox="1"/>
          <p:nvPr/>
        </p:nvSpPr>
        <p:spPr>
          <a:xfrm>
            <a:off x="9971648" y="2310128"/>
            <a:ext cx="2371468" cy="49449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pPr>
              <a:lnSpc>
                <a:spcPct val="90000"/>
              </a:lnSpc>
            </a:pPr>
            <a:r>
              <a:rPr lang="en-US" sz="3200">
                <a:latin typeface="Lexend ExtraLight"/>
              </a:rPr>
              <a:t>87k </a:t>
            </a:r>
            <a:r>
              <a:rPr lang="en-US" sz="1600">
                <a:solidFill>
                  <a:srgbClr val="069BD7"/>
                </a:solidFill>
                <a:latin typeface="Lexend ExtraLight"/>
              </a:rPr>
              <a:t>89%</a:t>
            </a:r>
          </a:p>
        </p:txBody>
      </p:sp>
      <p:sp>
        <p:nvSpPr>
          <p:cNvPr id="8" name="TextBox 7">
            <a:extLst>
              <a:ext uri="{FF2B5EF4-FFF2-40B4-BE49-F238E27FC236}">
                <a16:creationId xmlns:a16="http://schemas.microsoft.com/office/drawing/2014/main" id="{62FB1BD5-4046-B951-7536-ACA93ECD88DC}"/>
              </a:ext>
            </a:extLst>
          </p:cNvPr>
          <p:cNvSpPr txBox="1"/>
          <p:nvPr/>
        </p:nvSpPr>
        <p:spPr>
          <a:xfrm>
            <a:off x="9835922" y="2848588"/>
            <a:ext cx="2371468" cy="2359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r>
              <a:rPr lang="en-US" sz="1200">
                <a:latin typeface="Open Sans Light"/>
                <a:ea typeface="Open Sans Light"/>
                <a:cs typeface="Open Sans Light"/>
              </a:rPr>
              <a:t>Start Services Eligibility Errors</a:t>
            </a:r>
            <a:endParaRPr lang="en-US" sz="900"/>
          </a:p>
        </p:txBody>
      </p:sp>
      <p:sp>
        <p:nvSpPr>
          <p:cNvPr id="9" name="TextBox 8">
            <a:extLst>
              <a:ext uri="{FF2B5EF4-FFF2-40B4-BE49-F238E27FC236}">
                <a16:creationId xmlns:a16="http://schemas.microsoft.com/office/drawing/2014/main" id="{F2DDB8D6-72EF-4612-3795-902A0306445B}"/>
              </a:ext>
            </a:extLst>
          </p:cNvPr>
          <p:cNvSpPr txBox="1"/>
          <p:nvPr/>
        </p:nvSpPr>
        <p:spPr>
          <a:xfrm>
            <a:off x="9971648" y="3297610"/>
            <a:ext cx="1714243" cy="6745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pPr>
              <a:lnSpc>
                <a:spcPct val="90000"/>
              </a:lnSpc>
            </a:pPr>
            <a:r>
              <a:rPr lang="en-US" sz="3200">
                <a:latin typeface="Lexend ExtraLight"/>
              </a:rPr>
              <a:t>8k</a:t>
            </a:r>
            <a:r>
              <a:rPr lang="en-US" sz="4500">
                <a:latin typeface="Lexend ExtraLight"/>
              </a:rPr>
              <a:t> </a:t>
            </a:r>
            <a:r>
              <a:rPr lang="en-US" sz="1600">
                <a:solidFill>
                  <a:srgbClr val="069BD7"/>
                </a:solidFill>
                <a:latin typeface="Lexend ExtraLight"/>
              </a:rPr>
              <a:t>8%</a:t>
            </a:r>
          </a:p>
        </p:txBody>
      </p:sp>
      <p:sp>
        <p:nvSpPr>
          <p:cNvPr id="14" name="TextBox 13">
            <a:extLst>
              <a:ext uri="{FF2B5EF4-FFF2-40B4-BE49-F238E27FC236}">
                <a16:creationId xmlns:a16="http://schemas.microsoft.com/office/drawing/2014/main" id="{2B62906A-DF1A-C080-6F62-9BBF7E7ECB12}"/>
              </a:ext>
            </a:extLst>
          </p:cNvPr>
          <p:cNvSpPr txBox="1"/>
          <p:nvPr/>
        </p:nvSpPr>
        <p:spPr>
          <a:xfrm>
            <a:off x="9880863" y="4166748"/>
            <a:ext cx="1959062" cy="2359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r>
              <a:rPr lang="en-US" sz="1200">
                <a:latin typeface="Open Sans Light"/>
                <a:ea typeface="Open Sans Light"/>
                <a:cs typeface="Open Sans Light"/>
              </a:rPr>
              <a:t>Start Service Errors</a:t>
            </a:r>
            <a:endParaRPr lang="en-US" sz="900"/>
          </a:p>
        </p:txBody>
      </p:sp>
      <p:sp>
        <p:nvSpPr>
          <p:cNvPr id="15" name="TextBox 14">
            <a:extLst>
              <a:ext uri="{FF2B5EF4-FFF2-40B4-BE49-F238E27FC236}">
                <a16:creationId xmlns:a16="http://schemas.microsoft.com/office/drawing/2014/main" id="{6098812B-AA25-3FAE-5141-3F0C9C2DA630}"/>
              </a:ext>
            </a:extLst>
          </p:cNvPr>
          <p:cNvSpPr txBox="1"/>
          <p:nvPr/>
        </p:nvSpPr>
        <p:spPr>
          <a:xfrm>
            <a:off x="2462201" y="3339597"/>
            <a:ext cx="956162" cy="49449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pPr defTabSz="412750" hangingPunct="0">
              <a:lnSpc>
                <a:spcPct val="90000"/>
              </a:lnSpc>
            </a:pPr>
            <a:r>
              <a:rPr lang="en-US" sz="3200">
                <a:latin typeface="Lexend ExtraLight"/>
              </a:rPr>
              <a:t>41%</a:t>
            </a:r>
            <a:endParaRPr lang="en-US" sz="3200">
              <a:latin typeface="Lexend ExtraLight" pitchFamily="2" charset="77"/>
              <a:sym typeface="Open Sans"/>
            </a:endParaRPr>
          </a:p>
        </p:txBody>
      </p:sp>
      <p:sp>
        <p:nvSpPr>
          <p:cNvPr id="18" name="TextBox 17">
            <a:extLst>
              <a:ext uri="{FF2B5EF4-FFF2-40B4-BE49-F238E27FC236}">
                <a16:creationId xmlns:a16="http://schemas.microsoft.com/office/drawing/2014/main" id="{60FCB266-30B2-B4E5-6269-81D9FA93A0AB}"/>
              </a:ext>
            </a:extLst>
          </p:cNvPr>
          <p:cNvSpPr txBox="1"/>
          <p:nvPr/>
        </p:nvSpPr>
        <p:spPr>
          <a:xfrm>
            <a:off x="571499" y="1803683"/>
            <a:ext cx="3399252" cy="51296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r>
              <a:rPr lang="en-US" sz="1500" b="1" dirty="0">
                <a:latin typeface="Open Sans Semibold" panose="020B0606030504020204" pitchFamily="34" charset="0"/>
                <a:ea typeface="Open Sans Semibold" panose="020B0606030504020204" pitchFamily="34" charset="0"/>
                <a:cs typeface="Open Sans Semibold" panose="020B0606030504020204" pitchFamily="34" charset="0"/>
              </a:rPr>
              <a:t>Service Transaction completed via Digital channels VS CSR</a:t>
            </a:r>
          </a:p>
        </p:txBody>
      </p:sp>
      <p:sp>
        <p:nvSpPr>
          <p:cNvPr id="19" name="TextBox 18">
            <a:extLst>
              <a:ext uri="{FF2B5EF4-FFF2-40B4-BE49-F238E27FC236}">
                <a16:creationId xmlns:a16="http://schemas.microsoft.com/office/drawing/2014/main" id="{82C38BAF-1A48-DEF9-3853-677DD1960B46}"/>
              </a:ext>
            </a:extLst>
          </p:cNvPr>
          <p:cNvSpPr txBox="1"/>
          <p:nvPr/>
        </p:nvSpPr>
        <p:spPr>
          <a:xfrm>
            <a:off x="3260774" y="5030517"/>
            <a:ext cx="1495168" cy="49449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pPr defTabSz="412750" hangingPunct="0">
              <a:lnSpc>
                <a:spcPct val="90000"/>
              </a:lnSpc>
            </a:pPr>
            <a:r>
              <a:rPr lang="en-US" sz="3200">
                <a:latin typeface="Lexend ExtraLight"/>
              </a:rPr>
              <a:t>57%</a:t>
            </a:r>
            <a:endParaRPr lang="en-US" sz="3200">
              <a:latin typeface="Lexend ExtraLight" pitchFamily="2" charset="77"/>
            </a:endParaRPr>
          </a:p>
        </p:txBody>
      </p:sp>
      <p:sp>
        <p:nvSpPr>
          <p:cNvPr id="25" name="TextBox 24">
            <a:extLst>
              <a:ext uri="{FF2B5EF4-FFF2-40B4-BE49-F238E27FC236}">
                <a16:creationId xmlns:a16="http://schemas.microsoft.com/office/drawing/2014/main" id="{F48CE2A9-C447-9976-CDAE-38594597FC06}"/>
              </a:ext>
            </a:extLst>
          </p:cNvPr>
          <p:cNvSpPr txBox="1"/>
          <p:nvPr/>
        </p:nvSpPr>
        <p:spPr>
          <a:xfrm>
            <a:off x="571500" y="5090321"/>
            <a:ext cx="756853" cy="38369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pPr>
              <a:lnSpc>
                <a:spcPct val="90000"/>
              </a:lnSpc>
            </a:pPr>
            <a:r>
              <a:rPr lang="en-US" sz="2400">
                <a:latin typeface="Lexend ExtraLight"/>
              </a:rPr>
              <a:t>51% </a:t>
            </a:r>
            <a:endParaRPr lang="en-US" sz="2400">
              <a:solidFill>
                <a:srgbClr val="000000"/>
              </a:solidFill>
              <a:latin typeface="Lexend ExtraLight"/>
            </a:endParaRPr>
          </a:p>
        </p:txBody>
      </p:sp>
      <p:sp>
        <p:nvSpPr>
          <p:cNvPr id="5" name="TextBox 4">
            <a:extLst>
              <a:ext uri="{FF2B5EF4-FFF2-40B4-BE49-F238E27FC236}">
                <a16:creationId xmlns:a16="http://schemas.microsoft.com/office/drawing/2014/main" id="{FA8C6218-1BCC-2243-1993-ABD5A47AC615}"/>
              </a:ext>
            </a:extLst>
          </p:cNvPr>
          <p:cNvSpPr txBox="1"/>
          <p:nvPr/>
        </p:nvSpPr>
        <p:spPr>
          <a:xfrm>
            <a:off x="1195654" y="3338614"/>
            <a:ext cx="934646" cy="49449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pPr defTabSz="412750" hangingPunct="0">
              <a:lnSpc>
                <a:spcPct val="90000"/>
              </a:lnSpc>
            </a:pPr>
            <a:r>
              <a:rPr lang="en-US" sz="3200">
                <a:latin typeface="Lexend ExtraLight"/>
              </a:rPr>
              <a:t>48%</a:t>
            </a:r>
            <a:endParaRPr lang="en-US" sz="3200">
              <a:solidFill>
                <a:srgbClr val="000000"/>
              </a:solidFill>
              <a:latin typeface="Lexend ExtraLight" pitchFamily="2" charset="77"/>
              <a:sym typeface="Open Sans"/>
            </a:endParaRPr>
          </a:p>
        </p:txBody>
      </p:sp>
      <p:sp>
        <p:nvSpPr>
          <p:cNvPr id="10" name="TextBox 9">
            <a:extLst>
              <a:ext uri="{FF2B5EF4-FFF2-40B4-BE49-F238E27FC236}">
                <a16:creationId xmlns:a16="http://schemas.microsoft.com/office/drawing/2014/main" id="{C3B207FD-9268-D582-7DDD-80C5ECEE3270}"/>
              </a:ext>
            </a:extLst>
          </p:cNvPr>
          <p:cNvSpPr txBox="1"/>
          <p:nvPr/>
        </p:nvSpPr>
        <p:spPr>
          <a:xfrm>
            <a:off x="2477219" y="2834450"/>
            <a:ext cx="1495168" cy="49449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pPr defTabSz="412750" hangingPunct="0">
              <a:lnSpc>
                <a:spcPct val="90000"/>
              </a:lnSpc>
            </a:pPr>
            <a:r>
              <a:rPr lang="en-US" sz="3200">
                <a:latin typeface="Lexend ExtraLight"/>
              </a:rPr>
              <a:t>59%</a:t>
            </a:r>
            <a:endParaRPr lang="en-US" sz="3200">
              <a:latin typeface="Lexend ExtraLight" pitchFamily="2" charset="77"/>
              <a:sym typeface="Open Sans"/>
            </a:endParaRPr>
          </a:p>
        </p:txBody>
      </p:sp>
      <p:sp>
        <p:nvSpPr>
          <p:cNvPr id="11" name="TextBox 10">
            <a:extLst>
              <a:ext uri="{FF2B5EF4-FFF2-40B4-BE49-F238E27FC236}">
                <a16:creationId xmlns:a16="http://schemas.microsoft.com/office/drawing/2014/main" id="{38F6D648-1D57-AE65-ED99-0FA4E16A065B}"/>
              </a:ext>
            </a:extLst>
          </p:cNvPr>
          <p:cNvSpPr txBox="1"/>
          <p:nvPr/>
        </p:nvSpPr>
        <p:spPr>
          <a:xfrm>
            <a:off x="1195653" y="2836939"/>
            <a:ext cx="1495168" cy="49449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pPr defTabSz="412750" hangingPunct="0">
              <a:lnSpc>
                <a:spcPct val="90000"/>
              </a:lnSpc>
            </a:pPr>
            <a:r>
              <a:rPr lang="en-US" sz="3200">
                <a:latin typeface="Lexend ExtraLight"/>
              </a:rPr>
              <a:t>52%</a:t>
            </a:r>
            <a:endParaRPr lang="en-US" sz="3200">
              <a:solidFill>
                <a:srgbClr val="000000"/>
              </a:solidFill>
              <a:latin typeface="Lexend ExtraLight" pitchFamily="2" charset="77"/>
              <a:sym typeface="Open Sans"/>
            </a:endParaRPr>
          </a:p>
        </p:txBody>
      </p:sp>
      <p:sp>
        <p:nvSpPr>
          <p:cNvPr id="12" name="TextBox 11">
            <a:extLst>
              <a:ext uri="{FF2B5EF4-FFF2-40B4-BE49-F238E27FC236}">
                <a16:creationId xmlns:a16="http://schemas.microsoft.com/office/drawing/2014/main" id="{CCADDD8C-99C3-365F-3C25-7711E302E2EE}"/>
              </a:ext>
            </a:extLst>
          </p:cNvPr>
          <p:cNvSpPr txBox="1"/>
          <p:nvPr/>
        </p:nvSpPr>
        <p:spPr>
          <a:xfrm>
            <a:off x="573963" y="2938893"/>
            <a:ext cx="350427" cy="2359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r>
              <a:rPr lang="en-US" sz="1200">
                <a:latin typeface="Open Sans Light"/>
                <a:ea typeface="Open Sans Light"/>
                <a:cs typeface="Open Sans Light"/>
              </a:rPr>
              <a:t>CSR</a:t>
            </a:r>
            <a:endParaRPr lang="en-US" sz="900"/>
          </a:p>
        </p:txBody>
      </p:sp>
      <p:sp>
        <p:nvSpPr>
          <p:cNvPr id="13" name="TextBox 12">
            <a:extLst>
              <a:ext uri="{FF2B5EF4-FFF2-40B4-BE49-F238E27FC236}">
                <a16:creationId xmlns:a16="http://schemas.microsoft.com/office/drawing/2014/main" id="{14B1A59A-617F-221F-1D52-6BC36A5659A6}"/>
              </a:ext>
            </a:extLst>
          </p:cNvPr>
          <p:cNvSpPr txBox="1"/>
          <p:nvPr/>
        </p:nvSpPr>
        <p:spPr>
          <a:xfrm>
            <a:off x="573963" y="3437860"/>
            <a:ext cx="547075" cy="2359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r>
              <a:rPr lang="en-US" sz="1200">
                <a:latin typeface="Open Sans Light"/>
                <a:ea typeface="Open Sans Light"/>
                <a:cs typeface="Open Sans Light"/>
              </a:rPr>
              <a:t>Digital</a:t>
            </a:r>
            <a:endParaRPr lang="en-US" sz="900"/>
          </a:p>
        </p:txBody>
      </p:sp>
      <p:sp>
        <p:nvSpPr>
          <p:cNvPr id="17" name="TextBox 16">
            <a:extLst>
              <a:ext uri="{FF2B5EF4-FFF2-40B4-BE49-F238E27FC236}">
                <a16:creationId xmlns:a16="http://schemas.microsoft.com/office/drawing/2014/main" id="{5622849E-4E43-F4EA-C209-05A841679876}"/>
              </a:ext>
            </a:extLst>
          </p:cNvPr>
          <p:cNvSpPr txBox="1"/>
          <p:nvPr/>
        </p:nvSpPr>
        <p:spPr>
          <a:xfrm>
            <a:off x="1221762" y="2582510"/>
            <a:ext cx="908538" cy="2359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r>
              <a:rPr lang="en-US" sz="1200">
                <a:latin typeface="Open Sans Light"/>
                <a:ea typeface="Open Sans Light"/>
                <a:cs typeface="Open Sans Light"/>
              </a:rPr>
              <a:t>2023</a:t>
            </a:r>
            <a:endParaRPr lang="en-US" sz="900"/>
          </a:p>
        </p:txBody>
      </p:sp>
      <p:sp>
        <p:nvSpPr>
          <p:cNvPr id="21" name="TextBox 20">
            <a:extLst>
              <a:ext uri="{FF2B5EF4-FFF2-40B4-BE49-F238E27FC236}">
                <a16:creationId xmlns:a16="http://schemas.microsoft.com/office/drawing/2014/main" id="{A925D45E-5BBF-5A28-8683-B18B70A8E667}"/>
              </a:ext>
            </a:extLst>
          </p:cNvPr>
          <p:cNvSpPr txBox="1"/>
          <p:nvPr/>
        </p:nvSpPr>
        <p:spPr>
          <a:xfrm>
            <a:off x="2485834" y="2572478"/>
            <a:ext cx="908538" cy="2359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r>
              <a:rPr lang="en-US" sz="1200">
                <a:latin typeface="Open Sans Light"/>
                <a:ea typeface="Open Sans Light"/>
                <a:cs typeface="Open Sans Light"/>
              </a:rPr>
              <a:t>2024</a:t>
            </a:r>
          </a:p>
        </p:txBody>
      </p:sp>
      <p:sp>
        <p:nvSpPr>
          <p:cNvPr id="4" name="Triangle 16">
            <a:extLst>
              <a:ext uri="{FF2B5EF4-FFF2-40B4-BE49-F238E27FC236}">
                <a16:creationId xmlns:a16="http://schemas.microsoft.com/office/drawing/2014/main" id="{AD76CD01-2F43-565C-D594-C617C61488C0}"/>
              </a:ext>
            </a:extLst>
          </p:cNvPr>
          <p:cNvSpPr/>
          <p:nvPr/>
        </p:nvSpPr>
        <p:spPr>
          <a:xfrm rot="5400000">
            <a:off x="2200454" y="2925654"/>
            <a:ext cx="157257" cy="285313"/>
          </a:xfrm>
          <a:prstGeom prst="triangle">
            <a:avLst/>
          </a:prstGeom>
          <a:solidFill>
            <a:schemeClr val="tx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R="19050" defTabSz="431800" hangingPunct="0">
              <a:lnSpc>
                <a:spcPct val="30000"/>
              </a:lnSpc>
            </a:pPr>
            <a:endParaRPr lang="en-US" sz="2000" b="1">
              <a:solidFill>
                <a:srgbClr val="000000"/>
              </a:solidFill>
              <a:uFill>
                <a:solidFill>
                  <a:srgbClr val="3A88FE"/>
                </a:solidFill>
              </a:uFill>
              <a:latin typeface="Futura Maxi Book"/>
              <a:ea typeface="Futura Maxi Book"/>
              <a:cs typeface="Futura Maxi Book"/>
            </a:endParaRPr>
          </a:p>
        </p:txBody>
      </p:sp>
      <p:sp>
        <p:nvSpPr>
          <p:cNvPr id="39" name="TextBox 38">
            <a:extLst>
              <a:ext uri="{FF2B5EF4-FFF2-40B4-BE49-F238E27FC236}">
                <a16:creationId xmlns:a16="http://schemas.microsoft.com/office/drawing/2014/main" id="{0C9934FB-B9AB-A16C-10F3-E6459C3C84E7}"/>
              </a:ext>
            </a:extLst>
          </p:cNvPr>
          <p:cNvSpPr txBox="1"/>
          <p:nvPr/>
        </p:nvSpPr>
        <p:spPr>
          <a:xfrm>
            <a:off x="571499" y="4467560"/>
            <a:ext cx="3614489" cy="2821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r>
              <a:rPr lang="en-US" sz="1500" b="1">
                <a:latin typeface="Open Sans Semibold" panose="020B0606030504020204" pitchFamily="34" charset="0"/>
                <a:ea typeface="Open Sans Semibold" panose="020B0606030504020204" pitchFamily="34" charset="0"/>
                <a:cs typeface="Open Sans Semibold" panose="020B0606030504020204" pitchFamily="34" charset="0"/>
              </a:rPr>
              <a:t>Completion Rate (Web Only)</a:t>
            </a:r>
          </a:p>
        </p:txBody>
      </p:sp>
      <p:sp>
        <p:nvSpPr>
          <p:cNvPr id="40" name="TextBox 39">
            <a:extLst>
              <a:ext uri="{FF2B5EF4-FFF2-40B4-BE49-F238E27FC236}">
                <a16:creationId xmlns:a16="http://schemas.microsoft.com/office/drawing/2014/main" id="{00CFEAC6-B6C2-D70E-75BB-2702C92356A4}"/>
              </a:ext>
            </a:extLst>
          </p:cNvPr>
          <p:cNvSpPr txBox="1"/>
          <p:nvPr/>
        </p:nvSpPr>
        <p:spPr>
          <a:xfrm>
            <a:off x="9971648" y="1821928"/>
            <a:ext cx="3614489" cy="2821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r>
              <a:rPr lang="en-US" sz="1500" b="1">
                <a:latin typeface="Open Sans Semibold" panose="020B0606030504020204" pitchFamily="34" charset="0"/>
                <a:ea typeface="Open Sans Semibold" panose="020B0606030504020204" pitchFamily="34" charset="0"/>
                <a:cs typeface="Open Sans Semibold" panose="020B0606030504020204" pitchFamily="34" charset="0"/>
              </a:rPr>
              <a:t>Errors - 180 days</a:t>
            </a:r>
          </a:p>
        </p:txBody>
      </p:sp>
      <p:sp>
        <p:nvSpPr>
          <p:cNvPr id="41" name="TextBox 40">
            <a:extLst>
              <a:ext uri="{FF2B5EF4-FFF2-40B4-BE49-F238E27FC236}">
                <a16:creationId xmlns:a16="http://schemas.microsoft.com/office/drawing/2014/main" id="{438DD920-4EC7-4078-48B2-F298657576F9}"/>
              </a:ext>
            </a:extLst>
          </p:cNvPr>
          <p:cNvSpPr txBox="1"/>
          <p:nvPr/>
        </p:nvSpPr>
        <p:spPr>
          <a:xfrm>
            <a:off x="4611143" y="1803683"/>
            <a:ext cx="3399252" cy="51296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r>
              <a:rPr lang="en-US" sz="1500" b="1">
                <a:latin typeface="Open Sans Semibold" panose="020B0606030504020204" pitchFamily="34" charset="0"/>
                <a:ea typeface="Open Sans Semibold" panose="020B0606030504020204" pitchFamily="34" charset="0"/>
                <a:cs typeface="Open Sans Semibold" panose="020B0606030504020204" pitchFamily="34" charset="0"/>
              </a:rPr>
              <a:t>Completion Rate through Web</a:t>
            </a:r>
          </a:p>
          <a:p>
            <a:r>
              <a:rPr lang="en-US" sz="1500" b="1">
                <a:latin typeface="Open Sans Semibold" panose="020B0606030504020204" pitchFamily="34" charset="0"/>
                <a:ea typeface="Open Sans Semibold" panose="020B0606030504020204" pitchFamily="34" charset="0"/>
                <a:cs typeface="Open Sans Semibold" panose="020B0606030504020204" pitchFamily="34" charset="0"/>
              </a:rPr>
              <a:t>Residential vs. Non-Residential</a:t>
            </a:r>
          </a:p>
        </p:txBody>
      </p:sp>
      <p:sp>
        <p:nvSpPr>
          <p:cNvPr id="42" name="TextBox 41">
            <a:extLst>
              <a:ext uri="{FF2B5EF4-FFF2-40B4-BE49-F238E27FC236}">
                <a16:creationId xmlns:a16="http://schemas.microsoft.com/office/drawing/2014/main" id="{AC189C46-1C6A-4E22-D9EE-0C8E58FDA6E7}"/>
              </a:ext>
            </a:extLst>
          </p:cNvPr>
          <p:cNvSpPr txBox="1"/>
          <p:nvPr/>
        </p:nvSpPr>
        <p:spPr>
          <a:xfrm>
            <a:off x="7254555" y="3339597"/>
            <a:ext cx="1495168" cy="49449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pPr defTabSz="412750" hangingPunct="0">
              <a:lnSpc>
                <a:spcPct val="90000"/>
              </a:lnSpc>
            </a:pPr>
            <a:r>
              <a:rPr lang="en-US" sz="3200">
                <a:latin typeface="Lexend ExtraLight"/>
              </a:rPr>
              <a:t>3%</a:t>
            </a:r>
            <a:endParaRPr lang="en-US" sz="3200">
              <a:latin typeface="Lexend ExtraLight" pitchFamily="2" charset="77"/>
              <a:sym typeface="Open Sans"/>
            </a:endParaRPr>
          </a:p>
        </p:txBody>
      </p:sp>
      <p:sp>
        <p:nvSpPr>
          <p:cNvPr id="43" name="TextBox 42">
            <a:extLst>
              <a:ext uri="{FF2B5EF4-FFF2-40B4-BE49-F238E27FC236}">
                <a16:creationId xmlns:a16="http://schemas.microsoft.com/office/drawing/2014/main" id="{6073B5FE-0BD6-70B1-FB02-21838275ACB2}"/>
              </a:ext>
            </a:extLst>
          </p:cNvPr>
          <p:cNvSpPr txBox="1"/>
          <p:nvPr/>
        </p:nvSpPr>
        <p:spPr>
          <a:xfrm>
            <a:off x="5924507" y="3338614"/>
            <a:ext cx="934646" cy="49449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pPr defTabSz="412750" hangingPunct="0">
              <a:lnSpc>
                <a:spcPct val="90000"/>
              </a:lnSpc>
            </a:pPr>
            <a:r>
              <a:rPr lang="en-US" sz="3200">
                <a:latin typeface="Lexend ExtraLight"/>
              </a:rPr>
              <a:t>18%</a:t>
            </a:r>
            <a:endParaRPr lang="en-US" sz="3200">
              <a:solidFill>
                <a:srgbClr val="000000"/>
              </a:solidFill>
              <a:latin typeface="Lexend ExtraLight" pitchFamily="2" charset="77"/>
              <a:sym typeface="Open Sans"/>
            </a:endParaRPr>
          </a:p>
        </p:txBody>
      </p:sp>
      <p:sp>
        <p:nvSpPr>
          <p:cNvPr id="44" name="TextBox 43">
            <a:extLst>
              <a:ext uri="{FF2B5EF4-FFF2-40B4-BE49-F238E27FC236}">
                <a16:creationId xmlns:a16="http://schemas.microsoft.com/office/drawing/2014/main" id="{A3A2FD98-E2CC-297B-2C73-F3C77936E3A3}"/>
              </a:ext>
            </a:extLst>
          </p:cNvPr>
          <p:cNvSpPr txBox="1"/>
          <p:nvPr/>
        </p:nvSpPr>
        <p:spPr>
          <a:xfrm>
            <a:off x="7269572" y="2834450"/>
            <a:ext cx="1085499" cy="49449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pPr defTabSz="412750" hangingPunct="0">
              <a:lnSpc>
                <a:spcPct val="90000"/>
              </a:lnSpc>
            </a:pPr>
            <a:r>
              <a:rPr lang="en-US" sz="3200">
                <a:latin typeface="Lexend ExtraLight"/>
              </a:rPr>
              <a:t>52%</a:t>
            </a:r>
            <a:endParaRPr lang="en-US" sz="3200">
              <a:latin typeface="Lexend ExtraLight" pitchFamily="2" charset="77"/>
              <a:sym typeface="Open Sans"/>
            </a:endParaRPr>
          </a:p>
        </p:txBody>
      </p:sp>
      <p:sp>
        <p:nvSpPr>
          <p:cNvPr id="45" name="TextBox 44">
            <a:extLst>
              <a:ext uri="{FF2B5EF4-FFF2-40B4-BE49-F238E27FC236}">
                <a16:creationId xmlns:a16="http://schemas.microsoft.com/office/drawing/2014/main" id="{D616EA1C-9C2B-E846-783F-042CFBC5547F}"/>
              </a:ext>
            </a:extLst>
          </p:cNvPr>
          <p:cNvSpPr txBox="1"/>
          <p:nvPr/>
        </p:nvSpPr>
        <p:spPr>
          <a:xfrm>
            <a:off x="5924507" y="2836939"/>
            <a:ext cx="934646" cy="49449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pPr defTabSz="412750" hangingPunct="0">
              <a:lnSpc>
                <a:spcPct val="90000"/>
              </a:lnSpc>
            </a:pPr>
            <a:r>
              <a:rPr lang="en-US" sz="3200">
                <a:latin typeface="Lexend ExtraLight"/>
              </a:rPr>
              <a:t>53%</a:t>
            </a:r>
            <a:endParaRPr lang="en-US" sz="3200">
              <a:solidFill>
                <a:srgbClr val="000000"/>
              </a:solidFill>
              <a:latin typeface="Lexend ExtraLight" pitchFamily="2" charset="77"/>
              <a:sym typeface="Open Sans"/>
            </a:endParaRPr>
          </a:p>
        </p:txBody>
      </p:sp>
      <p:sp>
        <p:nvSpPr>
          <p:cNvPr id="46" name="TextBox 45">
            <a:extLst>
              <a:ext uri="{FF2B5EF4-FFF2-40B4-BE49-F238E27FC236}">
                <a16:creationId xmlns:a16="http://schemas.microsoft.com/office/drawing/2014/main" id="{DAF6B90F-ED76-47F6-C5C7-B6CCADC122CC}"/>
              </a:ext>
            </a:extLst>
          </p:cNvPr>
          <p:cNvSpPr txBox="1"/>
          <p:nvPr/>
        </p:nvSpPr>
        <p:spPr>
          <a:xfrm>
            <a:off x="4749153" y="2938893"/>
            <a:ext cx="1043791" cy="2359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r>
              <a:rPr lang="en-US" sz="1200">
                <a:latin typeface="Open Sans Light"/>
                <a:ea typeface="Open Sans Light"/>
                <a:cs typeface="Open Sans Light"/>
              </a:rPr>
              <a:t>Residential</a:t>
            </a:r>
            <a:endParaRPr lang="en-US" sz="900"/>
          </a:p>
        </p:txBody>
      </p:sp>
      <p:sp>
        <p:nvSpPr>
          <p:cNvPr id="48" name="TextBox 47">
            <a:extLst>
              <a:ext uri="{FF2B5EF4-FFF2-40B4-BE49-F238E27FC236}">
                <a16:creationId xmlns:a16="http://schemas.microsoft.com/office/drawing/2014/main" id="{ACA1F1E3-3365-E39F-EFEA-62BD24B00241}"/>
              </a:ext>
            </a:extLst>
          </p:cNvPr>
          <p:cNvSpPr txBox="1"/>
          <p:nvPr/>
        </p:nvSpPr>
        <p:spPr>
          <a:xfrm>
            <a:off x="5950615" y="2582510"/>
            <a:ext cx="908538" cy="2359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r>
              <a:rPr lang="en-US" sz="1200">
                <a:latin typeface="Open Sans Light"/>
                <a:ea typeface="Open Sans Light"/>
                <a:cs typeface="Open Sans Light"/>
              </a:rPr>
              <a:t>2023</a:t>
            </a:r>
            <a:endParaRPr lang="en-US" sz="900"/>
          </a:p>
        </p:txBody>
      </p:sp>
      <p:sp>
        <p:nvSpPr>
          <p:cNvPr id="49" name="TextBox 48">
            <a:extLst>
              <a:ext uri="{FF2B5EF4-FFF2-40B4-BE49-F238E27FC236}">
                <a16:creationId xmlns:a16="http://schemas.microsoft.com/office/drawing/2014/main" id="{9A119777-88F9-1E83-AEC6-E464C20E15E6}"/>
              </a:ext>
            </a:extLst>
          </p:cNvPr>
          <p:cNvSpPr txBox="1"/>
          <p:nvPr/>
        </p:nvSpPr>
        <p:spPr>
          <a:xfrm>
            <a:off x="7278188" y="2572478"/>
            <a:ext cx="908538" cy="2359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r>
              <a:rPr lang="en-US" sz="1200">
                <a:latin typeface="Open Sans Light"/>
                <a:ea typeface="Open Sans Light"/>
                <a:cs typeface="Open Sans Light"/>
              </a:rPr>
              <a:t>2024</a:t>
            </a:r>
          </a:p>
        </p:txBody>
      </p:sp>
      <p:sp>
        <p:nvSpPr>
          <p:cNvPr id="51" name="Triangle 16">
            <a:extLst>
              <a:ext uri="{FF2B5EF4-FFF2-40B4-BE49-F238E27FC236}">
                <a16:creationId xmlns:a16="http://schemas.microsoft.com/office/drawing/2014/main" id="{8E672A99-5387-EF70-9463-2A45AF6ED7F7}"/>
              </a:ext>
            </a:extLst>
          </p:cNvPr>
          <p:cNvSpPr/>
          <p:nvPr/>
        </p:nvSpPr>
        <p:spPr>
          <a:xfrm rot="5400000">
            <a:off x="6954707" y="3414170"/>
            <a:ext cx="157257" cy="285313"/>
          </a:xfrm>
          <a:prstGeom prst="triangle">
            <a:avLst/>
          </a:prstGeom>
          <a:solidFill>
            <a:schemeClr val="tx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R="19050" defTabSz="431800" hangingPunct="0">
              <a:lnSpc>
                <a:spcPct val="30000"/>
              </a:lnSpc>
            </a:pPr>
            <a:endParaRPr lang="en-US" sz="2000" b="1">
              <a:solidFill>
                <a:srgbClr val="000000"/>
              </a:solidFill>
              <a:uFill>
                <a:solidFill>
                  <a:srgbClr val="3A88FE"/>
                </a:solidFill>
              </a:uFill>
              <a:latin typeface="Futura Maxi Book"/>
              <a:ea typeface="Futura Maxi Book"/>
              <a:cs typeface="Futura Maxi Book"/>
            </a:endParaRPr>
          </a:p>
        </p:txBody>
      </p:sp>
      <p:sp>
        <p:nvSpPr>
          <p:cNvPr id="52" name="TextBox 51">
            <a:extLst>
              <a:ext uri="{FF2B5EF4-FFF2-40B4-BE49-F238E27FC236}">
                <a16:creationId xmlns:a16="http://schemas.microsoft.com/office/drawing/2014/main" id="{2AFE5AE2-D47B-FF06-0301-AB8A7784F5DB}"/>
              </a:ext>
            </a:extLst>
          </p:cNvPr>
          <p:cNvSpPr txBox="1"/>
          <p:nvPr/>
        </p:nvSpPr>
        <p:spPr>
          <a:xfrm>
            <a:off x="4749153" y="3439934"/>
            <a:ext cx="1157850" cy="2359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r>
              <a:rPr lang="en-US" sz="1200">
                <a:latin typeface="Open Sans Light"/>
                <a:ea typeface="Open Sans Light"/>
                <a:cs typeface="Open Sans Light"/>
              </a:rPr>
              <a:t>Non-Residential</a:t>
            </a:r>
            <a:endParaRPr lang="en-US" sz="900"/>
          </a:p>
        </p:txBody>
      </p:sp>
      <p:sp>
        <p:nvSpPr>
          <p:cNvPr id="16" name="Triangle 16">
            <a:extLst>
              <a:ext uri="{FF2B5EF4-FFF2-40B4-BE49-F238E27FC236}">
                <a16:creationId xmlns:a16="http://schemas.microsoft.com/office/drawing/2014/main" id="{3B15A677-750A-67AE-2309-EB9664157F2F}"/>
              </a:ext>
            </a:extLst>
          </p:cNvPr>
          <p:cNvSpPr/>
          <p:nvPr/>
        </p:nvSpPr>
        <p:spPr>
          <a:xfrm rot="5400000">
            <a:off x="2201099" y="3441452"/>
            <a:ext cx="157257" cy="285313"/>
          </a:xfrm>
          <a:prstGeom prst="triangle">
            <a:avLst/>
          </a:prstGeom>
          <a:solidFill>
            <a:schemeClr val="tx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R="19050" defTabSz="431800" hangingPunct="0">
              <a:lnSpc>
                <a:spcPct val="30000"/>
              </a:lnSpc>
            </a:pPr>
            <a:endParaRPr lang="en-US" sz="2000" b="1">
              <a:solidFill>
                <a:srgbClr val="000000"/>
              </a:solidFill>
              <a:uFill>
                <a:solidFill>
                  <a:srgbClr val="3A88FE"/>
                </a:solidFill>
              </a:uFill>
              <a:latin typeface="Futura Maxi Book"/>
              <a:ea typeface="Futura Maxi Book"/>
              <a:cs typeface="Futura Maxi Book"/>
            </a:endParaRPr>
          </a:p>
        </p:txBody>
      </p:sp>
      <p:sp>
        <p:nvSpPr>
          <p:cNvPr id="6" name="Triangle 16">
            <a:extLst>
              <a:ext uri="{FF2B5EF4-FFF2-40B4-BE49-F238E27FC236}">
                <a16:creationId xmlns:a16="http://schemas.microsoft.com/office/drawing/2014/main" id="{93E26451-B2B3-1A3E-E404-9BB374B742BC}"/>
              </a:ext>
            </a:extLst>
          </p:cNvPr>
          <p:cNvSpPr/>
          <p:nvPr/>
        </p:nvSpPr>
        <p:spPr>
          <a:xfrm rot="5400000">
            <a:off x="6955006" y="2924852"/>
            <a:ext cx="157257" cy="285313"/>
          </a:xfrm>
          <a:prstGeom prst="triangle">
            <a:avLst/>
          </a:prstGeom>
          <a:solidFill>
            <a:schemeClr val="tx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R="19050" defTabSz="431800" hangingPunct="0">
              <a:lnSpc>
                <a:spcPct val="30000"/>
              </a:lnSpc>
            </a:pPr>
            <a:endParaRPr lang="en-US" sz="2000" b="1">
              <a:solidFill>
                <a:srgbClr val="000000"/>
              </a:solidFill>
              <a:uFill>
                <a:solidFill>
                  <a:srgbClr val="3A88FE"/>
                </a:solidFill>
              </a:uFill>
              <a:latin typeface="Futura Maxi Book"/>
              <a:ea typeface="Futura Maxi Book"/>
              <a:cs typeface="Futura Maxi Book"/>
            </a:endParaRPr>
          </a:p>
        </p:txBody>
      </p:sp>
      <p:sp>
        <p:nvSpPr>
          <p:cNvPr id="20" name="Triangle 16">
            <a:extLst>
              <a:ext uri="{FF2B5EF4-FFF2-40B4-BE49-F238E27FC236}">
                <a16:creationId xmlns:a16="http://schemas.microsoft.com/office/drawing/2014/main" id="{30370100-E0D0-8981-9F3E-42EDAFCB7E9B}"/>
              </a:ext>
            </a:extLst>
          </p:cNvPr>
          <p:cNvSpPr/>
          <p:nvPr/>
        </p:nvSpPr>
        <p:spPr>
          <a:xfrm rot="5400000">
            <a:off x="1300235" y="5140666"/>
            <a:ext cx="157257" cy="285313"/>
          </a:xfrm>
          <a:prstGeom prst="triangle">
            <a:avLst/>
          </a:prstGeom>
          <a:solidFill>
            <a:schemeClr val="tx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R="19050" defTabSz="431800" hangingPunct="0">
              <a:lnSpc>
                <a:spcPct val="30000"/>
              </a:lnSpc>
            </a:pPr>
            <a:endParaRPr lang="en-US" sz="2000" b="1">
              <a:solidFill>
                <a:srgbClr val="000000"/>
              </a:solidFill>
              <a:uFill>
                <a:solidFill>
                  <a:srgbClr val="3A88FE"/>
                </a:solidFill>
              </a:uFill>
              <a:latin typeface="Futura Maxi Book"/>
              <a:ea typeface="Futura Maxi Book"/>
              <a:cs typeface="Futura Maxi Book"/>
            </a:endParaRPr>
          </a:p>
        </p:txBody>
      </p:sp>
      <p:sp>
        <p:nvSpPr>
          <p:cNvPr id="22" name="TextBox 21">
            <a:extLst>
              <a:ext uri="{FF2B5EF4-FFF2-40B4-BE49-F238E27FC236}">
                <a16:creationId xmlns:a16="http://schemas.microsoft.com/office/drawing/2014/main" id="{EBC26697-46BD-B3CC-08EA-0C82DDF07C2C}"/>
              </a:ext>
            </a:extLst>
          </p:cNvPr>
          <p:cNvSpPr txBox="1"/>
          <p:nvPr/>
        </p:nvSpPr>
        <p:spPr>
          <a:xfrm>
            <a:off x="3671371" y="3349266"/>
            <a:ext cx="1495168" cy="49449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pPr defTabSz="412750" hangingPunct="0">
              <a:lnSpc>
                <a:spcPct val="90000"/>
              </a:lnSpc>
            </a:pPr>
            <a:r>
              <a:rPr lang="en-US" sz="3200">
                <a:latin typeface="Lexend ExtraLight"/>
              </a:rPr>
              <a:t>45%</a:t>
            </a:r>
            <a:endParaRPr lang="en-US" sz="3200">
              <a:latin typeface="Lexend ExtraLight" pitchFamily="2" charset="77"/>
              <a:sym typeface="Open Sans"/>
            </a:endParaRPr>
          </a:p>
        </p:txBody>
      </p:sp>
      <p:sp>
        <p:nvSpPr>
          <p:cNvPr id="23" name="TextBox 22">
            <a:extLst>
              <a:ext uri="{FF2B5EF4-FFF2-40B4-BE49-F238E27FC236}">
                <a16:creationId xmlns:a16="http://schemas.microsoft.com/office/drawing/2014/main" id="{FB7110EE-64C0-1FEE-7759-E7D32CDAAA23}"/>
              </a:ext>
            </a:extLst>
          </p:cNvPr>
          <p:cNvSpPr txBox="1"/>
          <p:nvPr/>
        </p:nvSpPr>
        <p:spPr>
          <a:xfrm>
            <a:off x="3686388" y="2844120"/>
            <a:ext cx="1495168" cy="49449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pPr defTabSz="412750" hangingPunct="0">
              <a:lnSpc>
                <a:spcPct val="90000"/>
              </a:lnSpc>
            </a:pPr>
            <a:r>
              <a:rPr lang="en-US" sz="3200">
                <a:latin typeface="Lexend ExtraLight"/>
              </a:rPr>
              <a:t>55%</a:t>
            </a:r>
            <a:endParaRPr lang="en-US" sz="3200">
              <a:latin typeface="Lexend ExtraLight" pitchFamily="2" charset="77"/>
              <a:sym typeface="Open Sans"/>
            </a:endParaRPr>
          </a:p>
        </p:txBody>
      </p:sp>
      <p:sp>
        <p:nvSpPr>
          <p:cNvPr id="24" name="TextBox 23">
            <a:extLst>
              <a:ext uri="{FF2B5EF4-FFF2-40B4-BE49-F238E27FC236}">
                <a16:creationId xmlns:a16="http://schemas.microsoft.com/office/drawing/2014/main" id="{80520784-758D-9E75-D266-DDE376B93D6C}"/>
              </a:ext>
            </a:extLst>
          </p:cNvPr>
          <p:cNvSpPr txBox="1"/>
          <p:nvPr/>
        </p:nvSpPr>
        <p:spPr>
          <a:xfrm>
            <a:off x="3695004" y="2582147"/>
            <a:ext cx="908538" cy="2359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r>
              <a:rPr lang="en-US" sz="1200">
                <a:latin typeface="Open Sans Light"/>
                <a:ea typeface="Open Sans Light"/>
                <a:cs typeface="Open Sans Light"/>
              </a:rPr>
              <a:t>2025</a:t>
            </a:r>
          </a:p>
        </p:txBody>
      </p:sp>
      <p:sp>
        <p:nvSpPr>
          <p:cNvPr id="26" name="Triangle 16">
            <a:extLst>
              <a:ext uri="{FF2B5EF4-FFF2-40B4-BE49-F238E27FC236}">
                <a16:creationId xmlns:a16="http://schemas.microsoft.com/office/drawing/2014/main" id="{5F3D9382-BB93-D4B7-CA72-654918B64D95}"/>
              </a:ext>
            </a:extLst>
          </p:cNvPr>
          <p:cNvSpPr/>
          <p:nvPr/>
        </p:nvSpPr>
        <p:spPr>
          <a:xfrm rot="5400000">
            <a:off x="3422323" y="2935324"/>
            <a:ext cx="157257" cy="285313"/>
          </a:xfrm>
          <a:prstGeom prst="triangle">
            <a:avLst/>
          </a:prstGeom>
          <a:solidFill>
            <a:schemeClr val="tx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R="19050" defTabSz="431800" hangingPunct="0">
              <a:lnSpc>
                <a:spcPct val="30000"/>
              </a:lnSpc>
            </a:pPr>
            <a:endParaRPr lang="en-US" sz="2000" b="1">
              <a:solidFill>
                <a:srgbClr val="000000"/>
              </a:solidFill>
              <a:uFill>
                <a:solidFill>
                  <a:srgbClr val="3A88FE"/>
                </a:solidFill>
              </a:uFill>
              <a:latin typeface="Futura Maxi Book"/>
              <a:ea typeface="Futura Maxi Book"/>
              <a:cs typeface="Futura Maxi Book"/>
            </a:endParaRPr>
          </a:p>
        </p:txBody>
      </p:sp>
      <p:sp>
        <p:nvSpPr>
          <p:cNvPr id="27" name="Triangle 16">
            <a:extLst>
              <a:ext uri="{FF2B5EF4-FFF2-40B4-BE49-F238E27FC236}">
                <a16:creationId xmlns:a16="http://schemas.microsoft.com/office/drawing/2014/main" id="{FC925641-3E10-DFF6-558E-23403103045D}"/>
              </a:ext>
            </a:extLst>
          </p:cNvPr>
          <p:cNvSpPr/>
          <p:nvPr/>
        </p:nvSpPr>
        <p:spPr>
          <a:xfrm rot="5400000">
            <a:off x="3422969" y="3451122"/>
            <a:ext cx="157257" cy="285313"/>
          </a:xfrm>
          <a:prstGeom prst="triangle">
            <a:avLst/>
          </a:prstGeom>
          <a:solidFill>
            <a:schemeClr val="tx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R="19050" defTabSz="431800" hangingPunct="0">
              <a:lnSpc>
                <a:spcPct val="30000"/>
              </a:lnSpc>
            </a:pPr>
            <a:endParaRPr lang="en-US" sz="2000" b="1">
              <a:solidFill>
                <a:srgbClr val="000000"/>
              </a:solidFill>
              <a:uFill>
                <a:solidFill>
                  <a:srgbClr val="3A88FE"/>
                </a:solidFill>
              </a:uFill>
              <a:latin typeface="Futura Maxi Book"/>
              <a:ea typeface="Futura Maxi Book"/>
              <a:cs typeface="Futura Maxi Book"/>
            </a:endParaRPr>
          </a:p>
        </p:txBody>
      </p:sp>
      <p:sp>
        <p:nvSpPr>
          <p:cNvPr id="33" name="TextBox 32">
            <a:extLst>
              <a:ext uri="{FF2B5EF4-FFF2-40B4-BE49-F238E27FC236}">
                <a16:creationId xmlns:a16="http://schemas.microsoft.com/office/drawing/2014/main" id="{8A179173-DE37-1B46-B23B-B469339B4FC7}"/>
              </a:ext>
            </a:extLst>
          </p:cNvPr>
          <p:cNvSpPr txBox="1"/>
          <p:nvPr/>
        </p:nvSpPr>
        <p:spPr>
          <a:xfrm>
            <a:off x="8525580" y="3347141"/>
            <a:ext cx="1495168" cy="49449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pPr defTabSz="412750" hangingPunct="0">
              <a:lnSpc>
                <a:spcPct val="90000"/>
              </a:lnSpc>
            </a:pPr>
            <a:r>
              <a:rPr lang="en-US" sz="3200">
                <a:latin typeface="Lexend ExtraLight"/>
              </a:rPr>
              <a:t>2%</a:t>
            </a:r>
            <a:endParaRPr lang="en-US" sz="3200">
              <a:latin typeface="Lexend ExtraLight" pitchFamily="2" charset="77"/>
              <a:sym typeface="Open Sans"/>
            </a:endParaRPr>
          </a:p>
        </p:txBody>
      </p:sp>
      <p:sp>
        <p:nvSpPr>
          <p:cNvPr id="34" name="TextBox 33">
            <a:extLst>
              <a:ext uri="{FF2B5EF4-FFF2-40B4-BE49-F238E27FC236}">
                <a16:creationId xmlns:a16="http://schemas.microsoft.com/office/drawing/2014/main" id="{DE6AE6EE-6255-375B-2047-812B263ED2D9}"/>
              </a:ext>
            </a:extLst>
          </p:cNvPr>
          <p:cNvSpPr txBox="1"/>
          <p:nvPr/>
        </p:nvSpPr>
        <p:spPr>
          <a:xfrm>
            <a:off x="8540597" y="2841994"/>
            <a:ext cx="1495168" cy="49449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pPr defTabSz="412750" hangingPunct="0">
              <a:lnSpc>
                <a:spcPct val="90000"/>
              </a:lnSpc>
            </a:pPr>
            <a:r>
              <a:rPr lang="en-US" sz="3200">
                <a:latin typeface="Lexend ExtraLight"/>
              </a:rPr>
              <a:t>59%</a:t>
            </a:r>
            <a:endParaRPr lang="en-US" sz="3200">
              <a:latin typeface="Lexend ExtraLight" pitchFamily="2" charset="77"/>
              <a:sym typeface="Open Sans"/>
            </a:endParaRPr>
          </a:p>
        </p:txBody>
      </p:sp>
      <p:sp>
        <p:nvSpPr>
          <p:cNvPr id="35" name="TextBox 34">
            <a:extLst>
              <a:ext uri="{FF2B5EF4-FFF2-40B4-BE49-F238E27FC236}">
                <a16:creationId xmlns:a16="http://schemas.microsoft.com/office/drawing/2014/main" id="{91272275-8419-2007-C6E7-B955C6D96158}"/>
              </a:ext>
            </a:extLst>
          </p:cNvPr>
          <p:cNvSpPr txBox="1"/>
          <p:nvPr/>
        </p:nvSpPr>
        <p:spPr>
          <a:xfrm>
            <a:off x="8549213" y="2580022"/>
            <a:ext cx="908538" cy="2359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r>
              <a:rPr lang="en-US" sz="1200">
                <a:latin typeface="Open Sans Light"/>
                <a:ea typeface="Open Sans Light"/>
                <a:cs typeface="Open Sans Light"/>
              </a:rPr>
              <a:t>2025</a:t>
            </a:r>
          </a:p>
        </p:txBody>
      </p:sp>
      <p:sp>
        <p:nvSpPr>
          <p:cNvPr id="36" name="Triangle 16">
            <a:extLst>
              <a:ext uri="{FF2B5EF4-FFF2-40B4-BE49-F238E27FC236}">
                <a16:creationId xmlns:a16="http://schemas.microsoft.com/office/drawing/2014/main" id="{6C540D8E-C3FB-9EFD-4011-BAABF7E48443}"/>
              </a:ext>
            </a:extLst>
          </p:cNvPr>
          <p:cNvSpPr/>
          <p:nvPr/>
        </p:nvSpPr>
        <p:spPr>
          <a:xfrm rot="5400000">
            <a:off x="8213032" y="2933198"/>
            <a:ext cx="157257" cy="285313"/>
          </a:xfrm>
          <a:prstGeom prst="triangle">
            <a:avLst/>
          </a:prstGeom>
          <a:solidFill>
            <a:schemeClr val="tx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R="19050" defTabSz="431800" hangingPunct="0">
              <a:lnSpc>
                <a:spcPct val="30000"/>
              </a:lnSpc>
            </a:pPr>
            <a:endParaRPr lang="en-US" sz="2000" b="1">
              <a:solidFill>
                <a:srgbClr val="000000"/>
              </a:solidFill>
              <a:uFill>
                <a:solidFill>
                  <a:srgbClr val="3A88FE"/>
                </a:solidFill>
              </a:uFill>
              <a:latin typeface="Futura Maxi Book"/>
              <a:ea typeface="Futura Maxi Book"/>
              <a:cs typeface="Futura Maxi Book"/>
            </a:endParaRPr>
          </a:p>
        </p:txBody>
      </p:sp>
      <p:sp>
        <p:nvSpPr>
          <p:cNvPr id="37" name="Triangle 16">
            <a:extLst>
              <a:ext uri="{FF2B5EF4-FFF2-40B4-BE49-F238E27FC236}">
                <a16:creationId xmlns:a16="http://schemas.microsoft.com/office/drawing/2014/main" id="{6A6127C5-17CF-4346-EB56-FC0E7A5259A0}"/>
              </a:ext>
            </a:extLst>
          </p:cNvPr>
          <p:cNvSpPr/>
          <p:nvPr/>
        </p:nvSpPr>
        <p:spPr>
          <a:xfrm rot="5400000">
            <a:off x="8213678" y="3448996"/>
            <a:ext cx="157257" cy="285313"/>
          </a:xfrm>
          <a:prstGeom prst="triangle">
            <a:avLst/>
          </a:prstGeom>
          <a:solidFill>
            <a:schemeClr val="tx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R="19050" defTabSz="431800" hangingPunct="0">
              <a:lnSpc>
                <a:spcPct val="30000"/>
              </a:lnSpc>
            </a:pPr>
            <a:endParaRPr lang="en-US" sz="2000" b="1">
              <a:solidFill>
                <a:srgbClr val="000000"/>
              </a:solidFill>
              <a:uFill>
                <a:solidFill>
                  <a:srgbClr val="3A88FE"/>
                </a:solidFill>
              </a:uFill>
              <a:latin typeface="Futura Maxi Book"/>
              <a:ea typeface="Futura Maxi Book"/>
              <a:cs typeface="Futura Maxi Book"/>
            </a:endParaRPr>
          </a:p>
        </p:txBody>
      </p:sp>
      <p:sp>
        <p:nvSpPr>
          <p:cNvPr id="38" name="TextBox 37">
            <a:extLst>
              <a:ext uri="{FF2B5EF4-FFF2-40B4-BE49-F238E27FC236}">
                <a16:creationId xmlns:a16="http://schemas.microsoft.com/office/drawing/2014/main" id="{CA51FC0C-9A3E-87FC-DFF5-F4F008F0792E}"/>
              </a:ext>
            </a:extLst>
          </p:cNvPr>
          <p:cNvSpPr txBox="1"/>
          <p:nvPr/>
        </p:nvSpPr>
        <p:spPr>
          <a:xfrm>
            <a:off x="1677975" y="5065114"/>
            <a:ext cx="1495168" cy="49449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pPr defTabSz="412750" hangingPunct="0">
              <a:lnSpc>
                <a:spcPct val="90000"/>
              </a:lnSpc>
            </a:pPr>
            <a:r>
              <a:rPr lang="en-US" sz="3200">
                <a:latin typeface="Lexend ExtraLight"/>
              </a:rPr>
              <a:t>61%</a:t>
            </a:r>
            <a:endParaRPr lang="en-US" sz="3200">
              <a:latin typeface="Lexend ExtraLight" pitchFamily="2" charset="77"/>
            </a:endParaRPr>
          </a:p>
        </p:txBody>
      </p:sp>
      <p:sp>
        <p:nvSpPr>
          <p:cNvPr id="47" name="Triangle 16">
            <a:extLst>
              <a:ext uri="{FF2B5EF4-FFF2-40B4-BE49-F238E27FC236}">
                <a16:creationId xmlns:a16="http://schemas.microsoft.com/office/drawing/2014/main" id="{45C5C3C3-C95E-BEAC-B812-B0DCFB34CD5B}"/>
              </a:ext>
            </a:extLst>
          </p:cNvPr>
          <p:cNvSpPr/>
          <p:nvPr/>
        </p:nvSpPr>
        <p:spPr>
          <a:xfrm rot="5400000">
            <a:off x="2690372" y="5130529"/>
            <a:ext cx="157257" cy="285313"/>
          </a:xfrm>
          <a:prstGeom prst="triangle">
            <a:avLst/>
          </a:prstGeom>
          <a:solidFill>
            <a:schemeClr val="tx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R="19050" defTabSz="431800" hangingPunct="0">
              <a:lnSpc>
                <a:spcPct val="30000"/>
              </a:lnSpc>
            </a:pPr>
            <a:endParaRPr lang="en-US" sz="2000" b="1">
              <a:solidFill>
                <a:srgbClr val="000000"/>
              </a:solidFill>
              <a:uFill>
                <a:solidFill>
                  <a:srgbClr val="3A88FE"/>
                </a:solidFill>
              </a:uFill>
              <a:latin typeface="Futura Maxi Book"/>
              <a:ea typeface="Futura Maxi Book"/>
              <a:cs typeface="Futura Maxi Book"/>
            </a:endParaRPr>
          </a:p>
        </p:txBody>
      </p:sp>
      <p:sp>
        <p:nvSpPr>
          <p:cNvPr id="50" name="TextBox 49">
            <a:extLst>
              <a:ext uri="{FF2B5EF4-FFF2-40B4-BE49-F238E27FC236}">
                <a16:creationId xmlns:a16="http://schemas.microsoft.com/office/drawing/2014/main" id="{232A41C8-E4C2-5CF7-38B9-C2A5980C7D4F}"/>
              </a:ext>
            </a:extLst>
          </p:cNvPr>
          <p:cNvSpPr txBox="1"/>
          <p:nvPr/>
        </p:nvSpPr>
        <p:spPr>
          <a:xfrm>
            <a:off x="614369" y="4814474"/>
            <a:ext cx="908538" cy="2359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r>
              <a:rPr lang="en-US" sz="1200">
                <a:latin typeface="Open Sans Light"/>
                <a:ea typeface="Open Sans Light"/>
                <a:cs typeface="Open Sans Light"/>
              </a:rPr>
              <a:t>2023</a:t>
            </a:r>
            <a:endParaRPr lang="en-US" sz="900"/>
          </a:p>
        </p:txBody>
      </p:sp>
      <p:sp>
        <p:nvSpPr>
          <p:cNvPr id="53" name="TextBox 52">
            <a:extLst>
              <a:ext uri="{FF2B5EF4-FFF2-40B4-BE49-F238E27FC236}">
                <a16:creationId xmlns:a16="http://schemas.microsoft.com/office/drawing/2014/main" id="{93AB13A8-2B0B-CD8C-5D32-F317CF1CE7C4}"/>
              </a:ext>
            </a:extLst>
          </p:cNvPr>
          <p:cNvSpPr txBox="1"/>
          <p:nvPr/>
        </p:nvSpPr>
        <p:spPr>
          <a:xfrm>
            <a:off x="2030841" y="4804442"/>
            <a:ext cx="908538" cy="2359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r>
              <a:rPr lang="en-US" sz="1200">
                <a:latin typeface="Open Sans Light"/>
                <a:ea typeface="Open Sans Light"/>
                <a:cs typeface="Open Sans Light"/>
              </a:rPr>
              <a:t>2024</a:t>
            </a:r>
          </a:p>
        </p:txBody>
      </p:sp>
      <p:sp>
        <p:nvSpPr>
          <p:cNvPr id="54" name="TextBox 53">
            <a:extLst>
              <a:ext uri="{FF2B5EF4-FFF2-40B4-BE49-F238E27FC236}">
                <a16:creationId xmlns:a16="http://schemas.microsoft.com/office/drawing/2014/main" id="{EB534CF4-6EB4-9BEB-2129-74AC80588737}"/>
              </a:ext>
            </a:extLst>
          </p:cNvPr>
          <p:cNvSpPr txBox="1"/>
          <p:nvPr/>
        </p:nvSpPr>
        <p:spPr>
          <a:xfrm>
            <a:off x="3240011" y="4814111"/>
            <a:ext cx="908538" cy="2359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r>
              <a:rPr lang="en-US" sz="1200">
                <a:latin typeface="Open Sans Light"/>
                <a:ea typeface="Open Sans Light"/>
                <a:cs typeface="Open Sans Light"/>
              </a:rPr>
              <a:t>2025</a:t>
            </a:r>
          </a:p>
        </p:txBody>
      </p:sp>
    </p:spTree>
    <p:extLst>
      <p:ext uri="{BB962C8B-B14F-4D97-AF65-F5344CB8AC3E}">
        <p14:creationId xmlns:p14="http://schemas.microsoft.com/office/powerpoint/2010/main" val="2330006251"/>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77E4E-E9CB-47ED-9FB3-D25E461BE8D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B4DC97E-70E9-14E1-BF7F-9DDB718A579B}"/>
              </a:ext>
            </a:extLst>
          </p:cNvPr>
          <p:cNvSpPr>
            <a:spLocks noGrp="1"/>
          </p:cNvSpPr>
          <p:nvPr>
            <p:ph type="body" sz="quarter" idx="41"/>
          </p:nvPr>
        </p:nvSpPr>
        <p:spPr/>
        <p:txBody>
          <a:bodyPr/>
          <a:lstStyle/>
          <a:p>
            <a:r>
              <a:rPr lang="en-US"/>
              <a:t>DATA AND EXPERIENCE ANALYSIS</a:t>
            </a:r>
          </a:p>
        </p:txBody>
      </p:sp>
      <p:sp>
        <p:nvSpPr>
          <p:cNvPr id="7" name="TextBox 6">
            <a:extLst>
              <a:ext uri="{FF2B5EF4-FFF2-40B4-BE49-F238E27FC236}">
                <a16:creationId xmlns:a16="http://schemas.microsoft.com/office/drawing/2014/main" id="{5FF18604-CAAA-548A-924A-085EC6D52C1A}"/>
              </a:ext>
            </a:extLst>
          </p:cNvPr>
          <p:cNvSpPr txBox="1"/>
          <p:nvPr/>
        </p:nvSpPr>
        <p:spPr>
          <a:xfrm>
            <a:off x="484815" y="4311014"/>
            <a:ext cx="2590382" cy="6745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pPr>
              <a:lnSpc>
                <a:spcPct val="90000"/>
              </a:lnSpc>
            </a:pPr>
            <a:r>
              <a:rPr lang="en-US" sz="4500">
                <a:latin typeface="Lexend ExtraLight"/>
              </a:rPr>
              <a:t>107k</a:t>
            </a:r>
            <a:r>
              <a:rPr lang="en-US" sz="1000">
                <a:latin typeface="Lexend ExtraLight" pitchFamily="2" charset="77"/>
              </a:rPr>
              <a:t>  users</a:t>
            </a:r>
          </a:p>
        </p:txBody>
      </p:sp>
      <p:sp>
        <p:nvSpPr>
          <p:cNvPr id="8" name="TextBox 7">
            <a:extLst>
              <a:ext uri="{FF2B5EF4-FFF2-40B4-BE49-F238E27FC236}">
                <a16:creationId xmlns:a16="http://schemas.microsoft.com/office/drawing/2014/main" id="{C640A0E3-8DAD-0A85-02D6-8CC346DD70F4}"/>
              </a:ext>
            </a:extLst>
          </p:cNvPr>
          <p:cNvSpPr txBox="1"/>
          <p:nvPr/>
        </p:nvSpPr>
        <p:spPr>
          <a:xfrm>
            <a:off x="571500" y="3979879"/>
            <a:ext cx="1937239" cy="2544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noAutofit/>
          </a:bodyPr>
          <a:lstStyle/>
          <a:p>
            <a:r>
              <a:rPr lang="en-US" sz="1100">
                <a:latin typeface="Open Sans Light" panose="020B0306030504020204" pitchFamily="34" charset="0"/>
                <a:ea typeface="Open Sans Light" panose="020B0306030504020204" pitchFamily="34" charset="0"/>
                <a:cs typeface="Open Sans Light" panose="020B0306030504020204" pitchFamily="34" charset="0"/>
              </a:rPr>
              <a:t>Homepage Global Nav</a:t>
            </a:r>
          </a:p>
        </p:txBody>
      </p:sp>
      <p:sp>
        <p:nvSpPr>
          <p:cNvPr id="13" name="TextBox 12">
            <a:extLst>
              <a:ext uri="{FF2B5EF4-FFF2-40B4-BE49-F238E27FC236}">
                <a16:creationId xmlns:a16="http://schemas.microsoft.com/office/drawing/2014/main" id="{8975082F-1A0F-EEBE-187C-BE3805DDE476}"/>
              </a:ext>
            </a:extLst>
          </p:cNvPr>
          <p:cNvSpPr txBox="1"/>
          <p:nvPr/>
        </p:nvSpPr>
        <p:spPr>
          <a:xfrm>
            <a:off x="3168685" y="4311014"/>
            <a:ext cx="2461765" cy="81304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pPr>
              <a:lnSpc>
                <a:spcPct val="90000"/>
              </a:lnSpc>
            </a:pPr>
            <a:r>
              <a:rPr lang="en-US" sz="4500">
                <a:latin typeface="Lexend ExtraLight"/>
              </a:rPr>
              <a:t>361k </a:t>
            </a:r>
            <a:r>
              <a:rPr lang="en-US" sz="1000">
                <a:latin typeface="Lexend ExtraLight"/>
              </a:rPr>
              <a:t>users</a:t>
            </a:r>
          </a:p>
          <a:p>
            <a:pPr>
              <a:lnSpc>
                <a:spcPct val="90000"/>
              </a:lnSpc>
            </a:pPr>
            <a:endParaRPr lang="en-US" sz="1000">
              <a:solidFill>
                <a:srgbClr val="000000"/>
              </a:solidFill>
              <a:latin typeface="Lexend ExtraLight" pitchFamily="2" charset="77"/>
            </a:endParaRPr>
          </a:p>
        </p:txBody>
      </p:sp>
      <p:pic>
        <p:nvPicPr>
          <p:cNvPr id="5" name="Picture 4" descr="A screenshot of a computer&#10;&#10;AI-generated content may be incorrect.">
            <a:extLst>
              <a:ext uri="{FF2B5EF4-FFF2-40B4-BE49-F238E27FC236}">
                <a16:creationId xmlns:a16="http://schemas.microsoft.com/office/drawing/2014/main" id="{26F3741B-369B-27B0-D753-96D262CADC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39778" y="2309853"/>
            <a:ext cx="2559538" cy="1593465"/>
          </a:xfrm>
          <a:prstGeom prst="rect">
            <a:avLst/>
          </a:prstGeom>
          <a:effectLst>
            <a:outerShdw blurRad="127000" sx="101000" sy="101000" algn="ctr" rotWithShape="0">
              <a:prstClr val="black">
                <a:alpha val="10000"/>
              </a:prstClr>
            </a:outerShdw>
          </a:effectLst>
        </p:spPr>
      </p:pic>
      <p:pic>
        <p:nvPicPr>
          <p:cNvPr id="12" name="Picture 11" descr="A screenshot of a computer&#10;&#10;AI-generated content may be incorrect.">
            <a:extLst>
              <a:ext uri="{FF2B5EF4-FFF2-40B4-BE49-F238E27FC236}">
                <a16:creationId xmlns:a16="http://schemas.microsoft.com/office/drawing/2014/main" id="{B4DBBDDF-C163-8193-34F8-D04FC5B22D1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22997" y="2487672"/>
            <a:ext cx="2326007" cy="1423295"/>
          </a:xfrm>
          <a:prstGeom prst="rect">
            <a:avLst/>
          </a:prstGeom>
          <a:effectLst>
            <a:outerShdw blurRad="127000" sx="101000" sy="101000" algn="ctr" rotWithShape="0">
              <a:prstClr val="black">
                <a:alpha val="10000"/>
              </a:prstClr>
            </a:outerShdw>
          </a:effectLst>
        </p:spPr>
      </p:pic>
      <p:pic>
        <p:nvPicPr>
          <p:cNvPr id="15" name="Picture 14">
            <a:extLst>
              <a:ext uri="{FF2B5EF4-FFF2-40B4-BE49-F238E27FC236}">
                <a16:creationId xmlns:a16="http://schemas.microsoft.com/office/drawing/2014/main" id="{E46BEC9F-26DC-020C-BB89-57D75DC639F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70120" y="2205591"/>
            <a:ext cx="2326008" cy="1692563"/>
          </a:xfrm>
          <a:prstGeom prst="rect">
            <a:avLst/>
          </a:prstGeom>
          <a:effectLst>
            <a:outerShdw blurRad="127000" sx="101000" sy="101000" algn="ctr" rotWithShape="0">
              <a:prstClr val="black">
                <a:alpha val="10000"/>
              </a:prstClr>
            </a:outerShdw>
          </a:effectLst>
        </p:spPr>
      </p:pic>
      <p:pic>
        <p:nvPicPr>
          <p:cNvPr id="17" name="Picture 16" descr="A screenshot of a service&#10;&#10;AI-generated content may be incorrect.">
            <a:extLst>
              <a:ext uri="{FF2B5EF4-FFF2-40B4-BE49-F238E27FC236}">
                <a16:creationId xmlns:a16="http://schemas.microsoft.com/office/drawing/2014/main" id="{5DA36CB7-52E4-E11D-E6DA-1587E39C932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71500" y="2311554"/>
            <a:ext cx="2107846" cy="1586600"/>
          </a:xfrm>
          <a:prstGeom prst="rect">
            <a:avLst/>
          </a:prstGeom>
          <a:effectLst>
            <a:outerShdw blurRad="127000" sx="101000" sy="101000" algn="ctr" rotWithShape="0">
              <a:prstClr val="black">
                <a:alpha val="10000"/>
              </a:prstClr>
            </a:outerShdw>
          </a:effectLst>
        </p:spPr>
      </p:pic>
      <p:pic>
        <p:nvPicPr>
          <p:cNvPr id="21" name="Picture 20" descr="A screenshot of a computer&#10;&#10;AI-generated content may be incorrect.">
            <a:extLst>
              <a:ext uri="{FF2B5EF4-FFF2-40B4-BE49-F238E27FC236}">
                <a16:creationId xmlns:a16="http://schemas.microsoft.com/office/drawing/2014/main" id="{9C6FF86D-969D-D05D-2826-1563EE58AE88}"/>
              </a:ext>
            </a:extLst>
          </p:cNvPr>
          <p:cNvPicPr>
            <a:picLocks noChangeAspect="1"/>
          </p:cNvPicPr>
          <p:nvPr/>
        </p:nvPicPr>
        <p:blipFill>
          <a:blip r:embed="rId7" cstate="print">
            <a:extLst>
              <a:ext uri="{28A0092B-C50C-407E-A947-70E740481C1C}">
                <a14:useLocalDpi xmlns:a14="http://schemas.microsoft.com/office/drawing/2010/main" val="0"/>
              </a:ext>
            </a:extLst>
          </a:blip>
          <a:srcRect r="31119" b="54863"/>
          <a:stretch/>
        </p:blipFill>
        <p:spPr>
          <a:xfrm>
            <a:off x="571500" y="2067779"/>
            <a:ext cx="2107846" cy="687390"/>
          </a:xfrm>
          <a:prstGeom prst="rect">
            <a:avLst/>
          </a:prstGeom>
          <a:effectLst>
            <a:outerShdw blurRad="127000" sx="101000" sy="101000" algn="ctr" rotWithShape="0">
              <a:prstClr val="black">
                <a:alpha val="10000"/>
              </a:prstClr>
            </a:outerShdw>
          </a:effectLst>
        </p:spPr>
      </p:pic>
      <p:sp>
        <p:nvSpPr>
          <p:cNvPr id="4" name="TextBox 3">
            <a:extLst>
              <a:ext uri="{FF2B5EF4-FFF2-40B4-BE49-F238E27FC236}">
                <a16:creationId xmlns:a16="http://schemas.microsoft.com/office/drawing/2014/main" id="{33E12100-ABD0-4EBB-CD5E-B65D612944DA}"/>
              </a:ext>
            </a:extLst>
          </p:cNvPr>
          <p:cNvSpPr txBox="1"/>
          <p:nvPr/>
        </p:nvSpPr>
        <p:spPr>
          <a:xfrm>
            <a:off x="570084" y="760170"/>
            <a:ext cx="8161626" cy="66069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fromWordArt="0" anchor="t" anchorCtr="0" forceAA="0" compatLnSpc="1">
            <a:prstTxWarp prst="textNoShape">
              <a:avLst/>
            </a:prstTxWarp>
            <a:spAutoFit/>
          </a:bodyPr>
          <a:lstStyle/>
          <a:p>
            <a:pPr>
              <a:lnSpc>
                <a:spcPct val="90000"/>
              </a:lnSpc>
            </a:pPr>
            <a:r>
              <a:rPr lang="en-US" sz="2200" b="1">
                <a:latin typeface="Lexend"/>
              </a:rPr>
              <a:t>We see a significant drop-off in the flow at the address look up phase – where eligibility errors occur. </a:t>
            </a:r>
          </a:p>
        </p:txBody>
      </p:sp>
      <p:sp>
        <p:nvSpPr>
          <p:cNvPr id="10" name="TextBox 9">
            <a:extLst>
              <a:ext uri="{FF2B5EF4-FFF2-40B4-BE49-F238E27FC236}">
                <a16:creationId xmlns:a16="http://schemas.microsoft.com/office/drawing/2014/main" id="{6D20E0B8-EC32-38D4-D85C-473D1FFB77EB}"/>
              </a:ext>
            </a:extLst>
          </p:cNvPr>
          <p:cNvSpPr txBox="1"/>
          <p:nvPr/>
        </p:nvSpPr>
        <p:spPr>
          <a:xfrm>
            <a:off x="3151862" y="3979879"/>
            <a:ext cx="1937239" cy="2544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noAutofit/>
          </a:bodyPr>
          <a:lstStyle/>
          <a:p>
            <a:r>
              <a:rPr lang="en-US" sz="1100">
                <a:latin typeface="Open Sans Light" panose="020B0306030504020204" pitchFamily="34" charset="0"/>
                <a:ea typeface="Open Sans Light" panose="020B0306030504020204" pitchFamily="34" charset="0"/>
                <a:cs typeface="Open Sans Light" panose="020B0306030504020204" pitchFamily="34" charset="0"/>
              </a:rPr>
              <a:t>Start Service Flow</a:t>
            </a:r>
          </a:p>
        </p:txBody>
      </p:sp>
      <p:sp>
        <p:nvSpPr>
          <p:cNvPr id="14" name="TextBox 13">
            <a:extLst>
              <a:ext uri="{FF2B5EF4-FFF2-40B4-BE49-F238E27FC236}">
                <a16:creationId xmlns:a16="http://schemas.microsoft.com/office/drawing/2014/main" id="{D3D0C079-A7D0-2E89-73BD-A9280C8936B0}"/>
              </a:ext>
            </a:extLst>
          </p:cNvPr>
          <p:cNvSpPr txBox="1"/>
          <p:nvPr/>
        </p:nvSpPr>
        <p:spPr>
          <a:xfrm>
            <a:off x="5901324" y="3979879"/>
            <a:ext cx="2326007" cy="2544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noAutofit/>
          </a:bodyPr>
          <a:lstStyle/>
          <a:p>
            <a:r>
              <a:rPr lang="en-US" sz="1100">
                <a:latin typeface="Open Sans Light" panose="020B0306030504020204" pitchFamily="34" charset="0"/>
                <a:ea typeface="Open Sans Light" panose="020B0306030504020204" pitchFamily="34" charset="0"/>
                <a:cs typeface="Open Sans Light" panose="020B0306030504020204" pitchFamily="34" charset="0"/>
              </a:rPr>
              <a:t>65% Completed address look up</a:t>
            </a:r>
          </a:p>
        </p:txBody>
      </p:sp>
      <p:sp>
        <p:nvSpPr>
          <p:cNvPr id="16" name="TextBox 15">
            <a:extLst>
              <a:ext uri="{FF2B5EF4-FFF2-40B4-BE49-F238E27FC236}">
                <a16:creationId xmlns:a16="http://schemas.microsoft.com/office/drawing/2014/main" id="{CF82C40C-A195-6E20-9499-9B6493656B22}"/>
              </a:ext>
            </a:extLst>
          </p:cNvPr>
          <p:cNvSpPr txBox="1"/>
          <p:nvPr/>
        </p:nvSpPr>
        <p:spPr>
          <a:xfrm>
            <a:off x="8732207" y="3979879"/>
            <a:ext cx="1937239" cy="2544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noAutofit/>
          </a:bodyPr>
          <a:lstStyle/>
          <a:p>
            <a:r>
              <a:rPr lang="en-US" sz="1100">
                <a:latin typeface="Open Sans Light" panose="020B0306030504020204" pitchFamily="34" charset="0"/>
                <a:ea typeface="Open Sans Light" panose="020B0306030504020204" pitchFamily="34" charset="0"/>
                <a:cs typeface="Open Sans Light" panose="020B0306030504020204" pitchFamily="34" charset="0"/>
              </a:rPr>
              <a:t>70% Start Service Submits</a:t>
            </a:r>
          </a:p>
        </p:txBody>
      </p:sp>
      <p:sp>
        <p:nvSpPr>
          <p:cNvPr id="23" name="TextBox 22">
            <a:extLst>
              <a:ext uri="{FF2B5EF4-FFF2-40B4-BE49-F238E27FC236}">
                <a16:creationId xmlns:a16="http://schemas.microsoft.com/office/drawing/2014/main" id="{FDCBE08C-082B-B52B-0A4C-B9A0A636FBC7}"/>
              </a:ext>
            </a:extLst>
          </p:cNvPr>
          <p:cNvSpPr txBox="1"/>
          <p:nvPr/>
        </p:nvSpPr>
        <p:spPr>
          <a:xfrm>
            <a:off x="5936937" y="4311014"/>
            <a:ext cx="2461765" cy="6745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pPr>
              <a:lnSpc>
                <a:spcPct val="90000"/>
              </a:lnSpc>
            </a:pPr>
            <a:r>
              <a:rPr lang="en-US" sz="4500">
                <a:latin typeface="Lexend ExtraLight"/>
              </a:rPr>
              <a:t>232k </a:t>
            </a:r>
            <a:r>
              <a:rPr lang="en-US" sz="1000">
                <a:latin typeface="Lexend ExtraLight"/>
              </a:rPr>
              <a:t>users</a:t>
            </a:r>
            <a:r>
              <a:rPr lang="en-US" sz="4500">
                <a:latin typeface="Lexend ExtraLight"/>
              </a:rPr>
              <a:t> </a:t>
            </a:r>
          </a:p>
        </p:txBody>
      </p:sp>
      <p:sp>
        <p:nvSpPr>
          <p:cNvPr id="25" name="TextBox 24">
            <a:extLst>
              <a:ext uri="{FF2B5EF4-FFF2-40B4-BE49-F238E27FC236}">
                <a16:creationId xmlns:a16="http://schemas.microsoft.com/office/drawing/2014/main" id="{36563E18-6BD5-D4E0-A6B0-110909B20B1F}"/>
              </a:ext>
            </a:extLst>
          </p:cNvPr>
          <p:cNvSpPr txBox="1"/>
          <p:nvPr/>
        </p:nvSpPr>
        <p:spPr>
          <a:xfrm>
            <a:off x="8730241" y="4311014"/>
            <a:ext cx="2461765" cy="79919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pPr>
              <a:lnSpc>
                <a:spcPct val="90000"/>
              </a:lnSpc>
            </a:pPr>
            <a:r>
              <a:rPr lang="en-US" sz="4500">
                <a:latin typeface="Lexend ExtraLight"/>
              </a:rPr>
              <a:t>175k </a:t>
            </a:r>
            <a:r>
              <a:rPr lang="en-US" sz="1000">
                <a:latin typeface="Lexend ExtraLight"/>
              </a:rPr>
              <a:t>users</a:t>
            </a:r>
          </a:p>
          <a:p>
            <a:pPr>
              <a:lnSpc>
                <a:spcPct val="90000"/>
              </a:lnSpc>
            </a:pPr>
            <a:endParaRPr lang="en-US" sz="900"/>
          </a:p>
        </p:txBody>
      </p:sp>
      <p:sp>
        <p:nvSpPr>
          <p:cNvPr id="3" name="TextBox 2">
            <a:extLst>
              <a:ext uri="{FF2B5EF4-FFF2-40B4-BE49-F238E27FC236}">
                <a16:creationId xmlns:a16="http://schemas.microsoft.com/office/drawing/2014/main" id="{004119D0-0B09-0A20-CE26-955BEB822DA7}"/>
              </a:ext>
            </a:extLst>
          </p:cNvPr>
          <p:cNvSpPr txBox="1"/>
          <p:nvPr/>
        </p:nvSpPr>
        <p:spPr>
          <a:xfrm>
            <a:off x="484815" y="6220989"/>
            <a:ext cx="2949050" cy="2359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r>
              <a:rPr lang="en-US" sz="1200">
                <a:latin typeface="Open Sans Light"/>
                <a:ea typeface="Open Sans Light"/>
                <a:cs typeface="Open Sans Light"/>
              </a:rPr>
              <a:t>(01/01/2025–12/21/2025)</a:t>
            </a:r>
          </a:p>
        </p:txBody>
      </p:sp>
    </p:spTree>
    <p:extLst>
      <p:ext uri="{BB962C8B-B14F-4D97-AF65-F5344CB8AC3E}">
        <p14:creationId xmlns:p14="http://schemas.microsoft.com/office/powerpoint/2010/main" val="633092264"/>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2E56FBF-8C64-D2F1-9C04-9FFBA4547EF3}"/>
              </a:ext>
            </a:extLst>
          </p:cNvPr>
          <p:cNvSpPr>
            <a:spLocks noGrp="1"/>
          </p:cNvSpPr>
          <p:nvPr>
            <p:ph type="body" sz="quarter" idx="41"/>
          </p:nvPr>
        </p:nvSpPr>
        <p:spPr>
          <a:xfrm>
            <a:off x="522457" y="508782"/>
            <a:ext cx="4084320" cy="152400"/>
          </a:xfrm>
        </p:spPr>
        <p:txBody>
          <a:bodyPr/>
          <a:lstStyle/>
          <a:p>
            <a:r>
              <a:rPr lang="en-US"/>
              <a:t>DATA ANALYSIS</a:t>
            </a:r>
            <a:endParaRPr lang="en-US">
              <a:solidFill>
                <a:srgbClr val="FF0000"/>
              </a:solidFill>
            </a:endParaRPr>
          </a:p>
        </p:txBody>
      </p:sp>
      <p:sp>
        <p:nvSpPr>
          <p:cNvPr id="24" name="TextBox 23">
            <a:extLst>
              <a:ext uri="{FF2B5EF4-FFF2-40B4-BE49-F238E27FC236}">
                <a16:creationId xmlns:a16="http://schemas.microsoft.com/office/drawing/2014/main" id="{9F2984A9-1739-8323-7455-945EE27C0B66}"/>
              </a:ext>
            </a:extLst>
          </p:cNvPr>
          <p:cNvSpPr txBox="1"/>
          <p:nvPr/>
        </p:nvSpPr>
        <p:spPr>
          <a:xfrm>
            <a:off x="468549" y="1808981"/>
            <a:ext cx="1937240" cy="6745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pPr>
              <a:lnSpc>
                <a:spcPct val="90000"/>
              </a:lnSpc>
            </a:pPr>
            <a:r>
              <a:rPr lang="en-US" sz="4500">
                <a:latin typeface="Lexend ExtraLight"/>
              </a:rPr>
              <a:t>89k </a:t>
            </a:r>
            <a:r>
              <a:rPr lang="en-US" sz="2400">
                <a:solidFill>
                  <a:srgbClr val="069BD7"/>
                </a:solidFill>
                <a:latin typeface="Lexend ExtraLight"/>
              </a:rPr>
              <a:t>95%</a:t>
            </a:r>
            <a:r>
              <a:rPr lang="en-US" sz="4500">
                <a:latin typeface="Lexend ExtraLight"/>
              </a:rPr>
              <a:t> </a:t>
            </a:r>
            <a:endParaRPr lang="en-US" sz="3150">
              <a:solidFill>
                <a:srgbClr val="000000"/>
              </a:solidFill>
              <a:latin typeface="Lexend ExtraLight" pitchFamily="2" charset="77"/>
              <a:sym typeface="Open Sans"/>
            </a:endParaRPr>
          </a:p>
        </p:txBody>
      </p:sp>
      <p:sp>
        <p:nvSpPr>
          <p:cNvPr id="26" name="TextBox 25">
            <a:extLst>
              <a:ext uri="{FF2B5EF4-FFF2-40B4-BE49-F238E27FC236}">
                <a16:creationId xmlns:a16="http://schemas.microsoft.com/office/drawing/2014/main" id="{97C6ABBA-2BE6-B088-3D2F-FA13D7FD755B}"/>
              </a:ext>
            </a:extLst>
          </p:cNvPr>
          <p:cNvSpPr txBox="1"/>
          <p:nvPr/>
        </p:nvSpPr>
        <p:spPr>
          <a:xfrm>
            <a:off x="484815" y="2457372"/>
            <a:ext cx="1661892" cy="4206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r>
              <a:rPr lang="en-US" sz="1200">
                <a:latin typeface="Open Sans Light"/>
                <a:ea typeface="Open Sans Light"/>
                <a:cs typeface="Open Sans Light"/>
              </a:rPr>
              <a:t>Eligibility-related Errors last 180 Days</a:t>
            </a:r>
          </a:p>
        </p:txBody>
      </p:sp>
      <p:sp>
        <p:nvSpPr>
          <p:cNvPr id="28" name="TextBox 27">
            <a:extLst>
              <a:ext uri="{FF2B5EF4-FFF2-40B4-BE49-F238E27FC236}">
                <a16:creationId xmlns:a16="http://schemas.microsoft.com/office/drawing/2014/main" id="{C0BDCB9A-A1BE-B4E0-7060-49993ECC97A3}"/>
              </a:ext>
            </a:extLst>
          </p:cNvPr>
          <p:cNvSpPr txBox="1"/>
          <p:nvPr/>
        </p:nvSpPr>
        <p:spPr>
          <a:xfrm>
            <a:off x="3062740" y="1796554"/>
            <a:ext cx="1937240" cy="6745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pPr>
              <a:lnSpc>
                <a:spcPct val="90000"/>
              </a:lnSpc>
            </a:pPr>
            <a:r>
              <a:rPr lang="en-US" sz="4500">
                <a:latin typeface="Lexend ExtraLight"/>
              </a:rPr>
              <a:t>8</a:t>
            </a:r>
            <a:r>
              <a:rPr lang="en-US" sz="3150">
                <a:latin typeface="Lexend ExtraLight"/>
              </a:rPr>
              <a:t>K </a:t>
            </a:r>
            <a:r>
              <a:rPr lang="en-US" sz="2000">
                <a:solidFill>
                  <a:srgbClr val="069BD7"/>
                </a:solidFill>
                <a:latin typeface="Lexend ExtraLight"/>
              </a:rPr>
              <a:t>8%</a:t>
            </a:r>
            <a:endParaRPr lang="en-US" sz="2000">
              <a:solidFill>
                <a:srgbClr val="069BD7"/>
              </a:solidFill>
              <a:latin typeface="Lexend ExtraLight" pitchFamily="2" charset="77"/>
            </a:endParaRPr>
          </a:p>
        </p:txBody>
      </p:sp>
      <p:sp>
        <p:nvSpPr>
          <p:cNvPr id="30" name="TextBox 29">
            <a:extLst>
              <a:ext uri="{FF2B5EF4-FFF2-40B4-BE49-F238E27FC236}">
                <a16:creationId xmlns:a16="http://schemas.microsoft.com/office/drawing/2014/main" id="{612DE367-7F73-CE9F-7585-C4927ADE8599}"/>
              </a:ext>
            </a:extLst>
          </p:cNvPr>
          <p:cNvSpPr txBox="1"/>
          <p:nvPr/>
        </p:nvSpPr>
        <p:spPr>
          <a:xfrm>
            <a:off x="3062740" y="2454501"/>
            <a:ext cx="2320737" cy="4206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r>
              <a:rPr lang="en-US" sz="1200">
                <a:latin typeface="Open Sans Light"/>
                <a:ea typeface="Open Sans Light"/>
                <a:cs typeface="Open Sans Light"/>
              </a:rPr>
              <a:t>General Start Service Errors – input field validation</a:t>
            </a:r>
          </a:p>
        </p:txBody>
      </p:sp>
      <p:sp>
        <p:nvSpPr>
          <p:cNvPr id="39" name="TextBox 14">
            <a:extLst>
              <a:ext uri="{FF2B5EF4-FFF2-40B4-BE49-F238E27FC236}">
                <a16:creationId xmlns:a16="http://schemas.microsoft.com/office/drawing/2014/main" id="{4FDF6275-1577-1B48-AE5D-E9F0651ED283}"/>
              </a:ext>
            </a:extLst>
          </p:cNvPr>
          <p:cNvSpPr txBox="1"/>
          <p:nvPr/>
        </p:nvSpPr>
        <p:spPr>
          <a:xfrm>
            <a:off x="471624" y="3164145"/>
            <a:ext cx="3700098" cy="2544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25400" tIns="25400" rIns="25400" bIns="25400"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825500" rtl="0" fontAlgn="auto" latinLnBrk="0" hangingPunct="0">
              <a:lnSpc>
                <a:spcPct val="110000"/>
              </a:lnSpc>
              <a:spcBef>
                <a:spcPts val="0"/>
              </a:spcBef>
              <a:spcAft>
                <a:spcPts val="0"/>
              </a:spcAft>
              <a:buClrTx/>
              <a:buSzTx/>
              <a:buFontTx/>
              <a:buNone/>
              <a:tabLst/>
              <a:defRPr kumimoji="0" sz="3500" b="0" i="0" u="none" strike="noStrike" cap="none" spc="0" normalizeH="0" baseline="0">
                <a:ln>
                  <a:noFill/>
                </a:ln>
                <a:solidFill>
                  <a:srgbClr val="000000"/>
                </a:solidFill>
                <a:effectLst/>
                <a:uFillTx/>
                <a:latin typeface="+mn-lt"/>
                <a:ea typeface="+mn-ea"/>
                <a:cs typeface="+mn-cs"/>
                <a:sym typeface="Open Sans"/>
              </a:defRPr>
            </a:lvl1pPr>
            <a:lvl2pPr marL="0" marR="0" indent="228600" algn="l" defTabSz="825500" rtl="0" fontAlgn="auto" latinLnBrk="0" hangingPunct="0">
              <a:lnSpc>
                <a:spcPct val="110000"/>
              </a:lnSpc>
              <a:spcBef>
                <a:spcPts val="0"/>
              </a:spcBef>
              <a:spcAft>
                <a:spcPts val="0"/>
              </a:spcAft>
              <a:buClrTx/>
              <a:buSzTx/>
              <a:buFontTx/>
              <a:buNone/>
              <a:tabLst/>
              <a:defRPr kumimoji="0" sz="3500" b="0" i="0" u="none" strike="noStrike" cap="none" spc="0" normalizeH="0" baseline="0">
                <a:ln>
                  <a:noFill/>
                </a:ln>
                <a:solidFill>
                  <a:srgbClr val="000000"/>
                </a:solidFill>
                <a:effectLst/>
                <a:uFillTx/>
                <a:latin typeface="+mn-lt"/>
                <a:ea typeface="+mn-ea"/>
                <a:cs typeface="+mn-cs"/>
                <a:sym typeface="Open Sans"/>
              </a:defRPr>
            </a:lvl2pPr>
            <a:lvl3pPr marL="0" marR="0" indent="457200" algn="l" defTabSz="825500" rtl="0" fontAlgn="auto" latinLnBrk="0" hangingPunct="0">
              <a:lnSpc>
                <a:spcPct val="110000"/>
              </a:lnSpc>
              <a:spcBef>
                <a:spcPts val="0"/>
              </a:spcBef>
              <a:spcAft>
                <a:spcPts val="0"/>
              </a:spcAft>
              <a:buClrTx/>
              <a:buSzTx/>
              <a:buFontTx/>
              <a:buNone/>
              <a:tabLst/>
              <a:defRPr kumimoji="0" sz="3500" b="0" i="0" u="none" strike="noStrike" cap="none" spc="0" normalizeH="0" baseline="0">
                <a:ln>
                  <a:noFill/>
                </a:ln>
                <a:solidFill>
                  <a:srgbClr val="000000"/>
                </a:solidFill>
                <a:effectLst/>
                <a:uFillTx/>
                <a:latin typeface="+mn-lt"/>
                <a:ea typeface="+mn-ea"/>
                <a:cs typeface="+mn-cs"/>
                <a:sym typeface="Open Sans"/>
              </a:defRPr>
            </a:lvl3pPr>
            <a:lvl4pPr marL="0" marR="0" indent="685800" algn="l" defTabSz="825500" rtl="0" fontAlgn="auto" latinLnBrk="0" hangingPunct="0">
              <a:lnSpc>
                <a:spcPct val="110000"/>
              </a:lnSpc>
              <a:spcBef>
                <a:spcPts val="0"/>
              </a:spcBef>
              <a:spcAft>
                <a:spcPts val="0"/>
              </a:spcAft>
              <a:buClrTx/>
              <a:buSzTx/>
              <a:buFontTx/>
              <a:buNone/>
              <a:tabLst/>
              <a:defRPr kumimoji="0" sz="3500" b="0" i="0" u="none" strike="noStrike" cap="none" spc="0" normalizeH="0" baseline="0">
                <a:ln>
                  <a:noFill/>
                </a:ln>
                <a:solidFill>
                  <a:srgbClr val="000000"/>
                </a:solidFill>
                <a:effectLst/>
                <a:uFillTx/>
                <a:latin typeface="+mn-lt"/>
                <a:ea typeface="+mn-ea"/>
                <a:cs typeface="+mn-cs"/>
                <a:sym typeface="Open Sans"/>
              </a:defRPr>
            </a:lvl4pPr>
            <a:lvl5pPr marL="0" marR="0" indent="914400" algn="l" defTabSz="825500" rtl="0" fontAlgn="auto" latinLnBrk="0" hangingPunct="0">
              <a:lnSpc>
                <a:spcPct val="110000"/>
              </a:lnSpc>
              <a:spcBef>
                <a:spcPts val="0"/>
              </a:spcBef>
              <a:spcAft>
                <a:spcPts val="0"/>
              </a:spcAft>
              <a:buClrTx/>
              <a:buSzTx/>
              <a:buFontTx/>
              <a:buNone/>
              <a:tabLst/>
              <a:defRPr kumimoji="0" sz="3500" b="0" i="0" u="none" strike="noStrike" cap="none" spc="0" normalizeH="0" baseline="0">
                <a:ln>
                  <a:noFill/>
                </a:ln>
                <a:solidFill>
                  <a:srgbClr val="000000"/>
                </a:solidFill>
                <a:effectLst/>
                <a:uFillTx/>
                <a:latin typeface="+mn-lt"/>
                <a:ea typeface="+mn-ea"/>
                <a:cs typeface="+mn-cs"/>
                <a:sym typeface="Open Sans"/>
              </a:defRPr>
            </a:lvl5pPr>
            <a:lvl6pPr marL="0" marR="0" indent="1143000" algn="l" defTabSz="825500" rtl="0" fontAlgn="auto" latinLnBrk="0" hangingPunct="0">
              <a:lnSpc>
                <a:spcPct val="110000"/>
              </a:lnSpc>
              <a:spcBef>
                <a:spcPts val="0"/>
              </a:spcBef>
              <a:spcAft>
                <a:spcPts val="0"/>
              </a:spcAft>
              <a:buClrTx/>
              <a:buSzTx/>
              <a:buFontTx/>
              <a:buNone/>
              <a:tabLst/>
              <a:defRPr kumimoji="0" sz="3500" b="0" i="0" u="none" strike="noStrike" cap="none" spc="0" normalizeH="0" baseline="0">
                <a:ln>
                  <a:noFill/>
                </a:ln>
                <a:solidFill>
                  <a:srgbClr val="000000"/>
                </a:solidFill>
                <a:effectLst/>
                <a:uFillTx/>
                <a:latin typeface="+mn-lt"/>
                <a:ea typeface="+mn-ea"/>
                <a:cs typeface="+mn-cs"/>
                <a:sym typeface="Open Sans"/>
              </a:defRPr>
            </a:lvl6pPr>
            <a:lvl7pPr marL="0" marR="0" indent="1371600" algn="l" defTabSz="825500" rtl="0" fontAlgn="auto" latinLnBrk="0" hangingPunct="0">
              <a:lnSpc>
                <a:spcPct val="110000"/>
              </a:lnSpc>
              <a:spcBef>
                <a:spcPts val="0"/>
              </a:spcBef>
              <a:spcAft>
                <a:spcPts val="0"/>
              </a:spcAft>
              <a:buClrTx/>
              <a:buSzTx/>
              <a:buFontTx/>
              <a:buNone/>
              <a:tabLst/>
              <a:defRPr kumimoji="0" sz="3500" b="0" i="0" u="none" strike="noStrike" cap="none" spc="0" normalizeH="0" baseline="0">
                <a:ln>
                  <a:noFill/>
                </a:ln>
                <a:solidFill>
                  <a:srgbClr val="000000"/>
                </a:solidFill>
                <a:effectLst/>
                <a:uFillTx/>
                <a:latin typeface="+mn-lt"/>
                <a:ea typeface="+mn-ea"/>
                <a:cs typeface="+mn-cs"/>
                <a:sym typeface="Open Sans"/>
              </a:defRPr>
            </a:lvl7pPr>
            <a:lvl8pPr marL="0" marR="0" indent="1600200" algn="l" defTabSz="825500" rtl="0" fontAlgn="auto" latinLnBrk="0" hangingPunct="0">
              <a:lnSpc>
                <a:spcPct val="110000"/>
              </a:lnSpc>
              <a:spcBef>
                <a:spcPts val="0"/>
              </a:spcBef>
              <a:spcAft>
                <a:spcPts val="0"/>
              </a:spcAft>
              <a:buClrTx/>
              <a:buSzTx/>
              <a:buFontTx/>
              <a:buNone/>
              <a:tabLst/>
              <a:defRPr kumimoji="0" sz="3500" b="0" i="0" u="none" strike="noStrike" cap="none" spc="0" normalizeH="0" baseline="0">
                <a:ln>
                  <a:noFill/>
                </a:ln>
                <a:solidFill>
                  <a:srgbClr val="000000"/>
                </a:solidFill>
                <a:effectLst/>
                <a:uFillTx/>
                <a:latin typeface="+mn-lt"/>
                <a:ea typeface="+mn-ea"/>
                <a:cs typeface="+mn-cs"/>
                <a:sym typeface="Open Sans"/>
              </a:defRPr>
            </a:lvl8pPr>
            <a:lvl9pPr marL="0" marR="0" indent="1828800" algn="l" defTabSz="825500" rtl="0" fontAlgn="auto" latinLnBrk="0" hangingPunct="0">
              <a:lnSpc>
                <a:spcPct val="110000"/>
              </a:lnSpc>
              <a:spcBef>
                <a:spcPts val="0"/>
              </a:spcBef>
              <a:spcAft>
                <a:spcPts val="0"/>
              </a:spcAft>
              <a:buClrTx/>
              <a:buSzTx/>
              <a:buFontTx/>
              <a:buNone/>
              <a:tabLst/>
              <a:defRPr kumimoji="0" sz="3500" b="0" i="0" u="none" strike="noStrike" cap="none" spc="0" normalizeH="0" baseline="0">
                <a:ln>
                  <a:noFill/>
                </a:ln>
                <a:solidFill>
                  <a:srgbClr val="000000"/>
                </a:solidFill>
                <a:effectLst/>
                <a:uFillTx/>
                <a:latin typeface="+mn-lt"/>
                <a:ea typeface="+mn-ea"/>
                <a:cs typeface="+mn-cs"/>
                <a:sym typeface="Open Sans"/>
              </a:defRPr>
            </a:lvl9pPr>
          </a:lstStyle>
          <a:p>
            <a:r>
              <a:rPr lang="en-US" sz="1200">
                <a:latin typeface="Open Sans Light"/>
                <a:ea typeface="Open Sans Light"/>
                <a:cs typeface="Open Sans Light"/>
              </a:rPr>
              <a:t>Start Services Top Error Codes Details Site Core</a:t>
            </a:r>
          </a:p>
        </p:txBody>
      </p:sp>
      <p:sp>
        <p:nvSpPr>
          <p:cNvPr id="3" name="TextBox 2">
            <a:extLst>
              <a:ext uri="{FF2B5EF4-FFF2-40B4-BE49-F238E27FC236}">
                <a16:creationId xmlns:a16="http://schemas.microsoft.com/office/drawing/2014/main" id="{EAF9D643-7242-2DB0-492B-D4E223C07132}"/>
              </a:ext>
            </a:extLst>
          </p:cNvPr>
          <p:cNvSpPr txBox="1"/>
          <p:nvPr/>
        </p:nvSpPr>
        <p:spPr>
          <a:xfrm>
            <a:off x="484815" y="6220989"/>
            <a:ext cx="2949050" cy="2359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r>
              <a:rPr lang="en-US" sz="1200">
                <a:latin typeface="Open Sans Light"/>
                <a:ea typeface="Open Sans Light"/>
                <a:cs typeface="Open Sans Light"/>
              </a:rPr>
              <a:t>last 180 Days (07/22/2024–01/21/2025)</a:t>
            </a:r>
          </a:p>
        </p:txBody>
      </p:sp>
      <p:sp>
        <p:nvSpPr>
          <p:cNvPr id="4" name="TextBox 3">
            <a:extLst>
              <a:ext uri="{FF2B5EF4-FFF2-40B4-BE49-F238E27FC236}">
                <a16:creationId xmlns:a16="http://schemas.microsoft.com/office/drawing/2014/main" id="{C48B416E-DE2E-06C4-CE65-2AD20942B19B}"/>
              </a:ext>
            </a:extLst>
          </p:cNvPr>
          <p:cNvSpPr txBox="1"/>
          <p:nvPr/>
        </p:nvSpPr>
        <p:spPr>
          <a:xfrm>
            <a:off x="465242" y="760170"/>
            <a:ext cx="5421886" cy="66069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fromWordArt="0" anchor="t" anchorCtr="0" forceAA="0" compatLnSpc="1">
            <a:prstTxWarp prst="textNoShape">
              <a:avLst/>
            </a:prstTxWarp>
            <a:spAutoFit/>
          </a:bodyPr>
          <a:lstStyle/>
          <a:p>
            <a:pPr>
              <a:lnSpc>
                <a:spcPct val="90000"/>
              </a:lnSpc>
            </a:pPr>
            <a:r>
              <a:rPr lang="en-US" sz="2200" b="1">
                <a:latin typeface="Lexend"/>
              </a:rPr>
              <a:t>Majority of errors preventing customers from completing the flow are eligibility related.</a:t>
            </a:r>
            <a:endParaRPr lang="en-US" sz="2200" b="1">
              <a:solidFill>
                <a:srgbClr val="000000"/>
              </a:solidFill>
              <a:latin typeface="Lexend"/>
              <a:sym typeface="Open Sans"/>
            </a:endParaRPr>
          </a:p>
        </p:txBody>
      </p:sp>
      <p:pic>
        <p:nvPicPr>
          <p:cNvPr id="8" name="Picture 7">
            <a:extLst>
              <a:ext uri="{FF2B5EF4-FFF2-40B4-BE49-F238E27FC236}">
                <a16:creationId xmlns:a16="http://schemas.microsoft.com/office/drawing/2014/main" id="{1CFDF989-29C9-B5C3-DE7F-00B033BAF918}"/>
              </a:ext>
            </a:extLst>
          </p:cNvPr>
          <p:cNvPicPr>
            <a:picLocks noChangeAspect="1"/>
          </p:cNvPicPr>
          <p:nvPr/>
        </p:nvPicPr>
        <p:blipFill>
          <a:blip r:embed="rId3"/>
          <a:stretch>
            <a:fillRect/>
          </a:stretch>
        </p:blipFill>
        <p:spPr>
          <a:xfrm>
            <a:off x="5656931" y="1187478"/>
            <a:ext cx="6425714" cy="2007676"/>
          </a:xfrm>
          <a:prstGeom prst="rect">
            <a:avLst/>
          </a:prstGeom>
        </p:spPr>
      </p:pic>
      <p:pic>
        <p:nvPicPr>
          <p:cNvPr id="10" name="Picture 9">
            <a:extLst>
              <a:ext uri="{FF2B5EF4-FFF2-40B4-BE49-F238E27FC236}">
                <a16:creationId xmlns:a16="http://schemas.microsoft.com/office/drawing/2014/main" id="{168AB2CB-26CC-7AE5-9679-9DE86A82586B}"/>
              </a:ext>
            </a:extLst>
          </p:cNvPr>
          <p:cNvPicPr>
            <a:picLocks noChangeAspect="1"/>
          </p:cNvPicPr>
          <p:nvPr/>
        </p:nvPicPr>
        <p:blipFill>
          <a:blip r:embed="rId4">
            <a:alphaModFix amt="43000"/>
          </a:blip>
          <a:stretch>
            <a:fillRect/>
          </a:stretch>
        </p:blipFill>
        <p:spPr>
          <a:xfrm>
            <a:off x="0" y="3706801"/>
            <a:ext cx="12082645" cy="2391030"/>
          </a:xfrm>
          <a:prstGeom prst="rect">
            <a:avLst/>
          </a:prstGeom>
        </p:spPr>
      </p:pic>
    </p:spTree>
    <p:extLst>
      <p:ext uri="{BB962C8B-B14F-4D97-AF65-F5344CB8AC3E}">
        <p14:creationId xmlns:p14="http://schemas.microsoft.com/office/powerpoint/2010/main" val="2893128490"/>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77E4E-E9CB-47ED-9FB3-D25E461BE8D4}"/>
            </a:ext>
          </a:extLst>
        </p:cNvPr>
        <p:cNvGrpSpPr/>
        <p:nvPr/>
      </p:nvGrpSpPr>
      <p:grpSpPr>
        <a:xfrm>
          <a:off x="0" y="0"/>
          <a:ext cx="0" cy="0"/>
          <a:chOff x="0" y="0"/>
          <a:chExt cx="0" cy="0"/>
        </a:xfrm>
      </p:grpSpPr>
      <p:sp>
        <p:nvSpPr>
          <p:cNvPr id="25" name="Rectangle 24">
            <a:extLst>
              <a:ext uri="{FF2B5EF4-FFF2-40B4-BE49-F238E27FC236}">
                <a16:creationId xmlns:a16="http://schemas.microsoft.com/office/drawing/2014/main" id="{01FB0732-AA5A-D4F7-1284-F332087616A5}"/>
              </a:ext>
            </a:extLst>
          </p:cNvPr>
          <p:cNvSpPr/>
          <p:nvPr/>
        </p:nvSpPr>
        <p:spPr>
          <a:xfrm>
            <a:off x="7098030" y="3357186"/>
            <a:ext cx="5093970" cy="143629"/>
          </a:xfrm>
          <a:prstGeom prst="rect">
            <a:avLst/>
          </a:prstGeom>
          <a:solidFill>
            <a:schemeClr val="bg1">
              <a:lumMod val="95000"/>
            </a:schemeClr>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R="19050" defTabSz="431800" hangingPunct="0">
              <a:lnSpc>
                <a:spcPct val="30000"/>
              </a:lnSpc>
            </a:pPr>
            <a:endParaRPr lang="en-US" sz="2000" b="1">
              <a:solidFill>
                <a:srgbClr val="000000"/>
              </a:solidFill>
              <a:uFill>
                <a:solidFill>
                  <a:srgbClr val="3A88FE"/>
                </a:solidFill>
              </a:uFill>
              <a:latin typeface="Futura Maxi Book"/>
              <a:ea typeface="Futura Maxi Book"/>
              <a:cs typeface="Futura Maxi Book"/>
              <a:sym typeface="Futura Maxi Book"/>
            </a:endParaRPr>
          </a:p>
        </p:txBody>
      </p:sp>
      <p:sp>
        <p:nvSpPr>
          <p:cNvPr id="2" name="Text Placeholder 1">
            <a:extLst>
              <a:ext uri="{FF2B5EF4-FFF2-40B4-BE49-F238E27FC236}">
                <a16:creationId xmlns:a16="http://schemas.microsoft.com/office/drawing/2014/main" id="{AB4DC97E-70E9-14E1-BF7F-9DDB718A579B}"/>
              </a:ext>
            </a:extLst>
          </p:cNvPr>
          <p:cNvSpPr>
            <a:spLocks noGrp="1"/>
          </p:cNvSpPr>
          <p:nvPr>
            <p:ph type="body" sz="quarter" idx="41"/>
          </p:nvPr>
        </p:nvSpPr>
        <p:spPr/>
        <p:txBody>
          <a:bodyPr/>
          <a:lstStyle/>
          <a:p>
            <a:r>
              <a:rPr lang="en-US">
                <a:latin typeface="Open Sans Extrabold"/>
                <a:ea typeface="Open Sans Extrabold"/>
                <a:cs typeface="Open Sans Extrabold"/>
              </a:rPr>
              <a:t>DATA ANALYSIS </a:t>
            </a:r>
          </a:p>
        </p:txBody>
      </p:sp>
      <p:sp>
        <p:nvSpPr>
          <p:cNvPr id="3" name="Text Placeholder 2">
            <a:extLst>
              <a:ext uri="{FF2B5EF4-FFF2-40B4-BE49-F238E27FC236}">
                <a16:creationId xmlns:a16="http://schemas.microsoft.com/office/drawing/2014/main" id="{5968B229-ECAC-9B8C-D1F3-559678C98566}"/>
              </a:ext>
            </a:extLst>
          </p:cNvPr>
          <p:cNvSpPr>
            <a:spLocks noGrp="1"/>
          </p:cNvSpPr>
          <p:nvPr>
            <p:ph type="body" sz="quarter" idx="42"/>
          </p:nvPr>
        </p:nvSpPr>
        <p:spPr>
          <a:xfrm>
            <a:off x="571500" y="745589"/>
            <a:ext cx="5865228" cy="893153"/>
          </a:xfrm>
        </p:spPr>
        <p:txBody>
          <a:bodyPr/>
          <a:lstStyle/>
          <a:p>
            <a:r>
              <a:rPr lang="en-US" sz="3000" dirty="0">
                <a:latin typeface="Lexend"/>
                <a:ea typeface="Open Sans"/>
                <a:cs typeface="Open Sans"/>
              </a:rPr>
              <a:t>Services 2025 Arrears  </a:t>
            </a:r>
          </a:p>
        </p:txBody>
      </p:sp>
      <p:sp>
        <p:nvSpPr>
          <p:cNvPr id="7" name="TextBox 6">
            <a:extLst>
              <a:ext uri="{FF2B5EF4-FFF2-40B4-BE49-F238E27FC236}">
                <a16:creationId xmlns:a16="http://schemas.microsoft.com/office/drawing/2014/main" id="{5FF18604-CAAA-548A-924A-085EC6D52C1A}"/>
              </a:ext>
            </a:extLst>
          </p:cNvPr>
          <p:cNvSpPr txBox="1"/>
          <p:nvPr/>
        </p:nvSpPr>
        <p:spPr>
          <a:xfrm>
            <a:off x="3225152" y="2369913"/>
            <a:ext cx="1937240" cy="6745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pPr defTabSz="412750">
              <a:lnSpc>
                <a:spcPct val="90000"/>
              </a:lnSpc>
            </a:pPr>
            <a:r>
              <a:rPr lang="en-US" sz="4500">
                <a:latin typeface="Open Sans"/>
              </a:rPr>
              <a:t>200</a:t>
            </a:r>
            <a:r>
              <a:rPr lang="en-US" sz="3150">
                <a:latin typeface="Open Sans"/>
              </a:rPr>
              <a:t>K</a:t>
            </a:r>
          </a:p>
        </p:txBody>
      </p:sp>
      <p:sp>
        <p:nvSpPr>
          <p:cNvPr id="8" name="TextBox 7">
            <a:extLst>
              <a:ext uri="{FF2B5EF4-FFF2-40B4-BE49-F238E27FC236}">
                <a16:creationId xmlns:a16="http://schemas.microsoft.com/office/drawing/2014/main" id="{C640A0E3-8DAD-0A85-02D6-8CC346DD70F4}"/>
              </a:ext>
            </a:extLst>
          </p:cNvPr>
          <p:cNvSpPr txBox="1"/>
          <p:nvPr/>
        </p:nvSpPr>
        <p:spPr>
          <a:xfrm>
            <a:off x="3225152" y="2974618"/>
            <a:ext cx="1937239" cy="2128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r>
              <a:rPr lang="en-US" sz="1050">
                <a:solidFill>
                  <a:srgbClr val="646B6B"/>
                </a:solidFill>
                <a:latin typeface="Open Sans"/>
                <a:ea typeface="Open Sans"/>
                <a:cs typeface="Open Sans"/>
              </a:rPr>
              <a:t>Accounts with arrears =&lt;0</a:t>
            </a:r>
            <a:endParaRPr lang="en-US" sz="1050">
              <a:solidFill>
                <a:srgbClr val="646B6B"/>
              </a:solidFill>
            </a:endParaRPr>
          </a:p>
        </p:txBody>
      </p:sp>
      <p:sp>
        <p:nvSpPr>
          <p:cNvPr id="11" name="TextBox 10">
            <a:extLst>
              <a:ext uri="{FF2B5EF4-FFF2-40B4-BE49-F238E27FC236}">
                <a16:creationId xmlns:a16="http://schemas.microsoft.com/office/drawing/2014/main" id="{234CA290-75A1-1C7D-17BA-78B68F4265B1}"/>
              </a:ext>
            </a:extLst>
          </p:cNvPr>
          <p:cNvSpPr txBox="1"/>
          <p:nvPr/>
        </p:nvSpPr>
        <p:spPr>
          <a:xfrm>
            <a:off x="571500" y="4902822"/>
            <a:ext cx="1153046" cy="6745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pPr defTabSz="412750" hangingPunct="0">
              <a:lnSpc>
                <a:spcPct val="90000"/>
              </a:lnSpc>
            </a:pPr>
            <a:r>
              <a:rPr lang="en-US" sz="4500">
                <a:latin typeface="Open Sans"/>
              </a:rPr>
              <a:t>39</a:t>
            </a:r>
            <a:r>
              <a:rPr lang="en-US" sz="3150">
                <a:latin typeface="Open Sans"/>
              </a:rPr>
              <a:t>K</a:t>
            </a:r>
            <a:endParaRPr lang="en-US" sz="3150">
              <a:solidFill>
                <a:srgbClr val="000000"/>
              </a:solidFill>
              <a:latin typeface="Open Sans"/>
            </a:endParaRPr>
          </a:p>
        </p:txBody>
      </p:sp>
      <p:sp>
        <p:nvSpPr>
          <p:cNvPr id="12" name="TextBox 11">
            <a:extLst>
              <a:ext uri="{FF2B5EF4-FFF2-40B4-BE49-F238E27FC236}">
                <a16:creationId xmlns:a16="http://schemas.microsoft.com/office/drawing/2014/main" id="{54FEA543-7D24-BD35-BC3A-25E2A9783F70}"/>
              </a:ext>
            </a:extLst>
          </p:cNvPr>
          <p:cNvSpPr txBox="1"/>
          <p:nvPr/>
        </p:nvSpPr>
        <p:spPr>
          <a:xfrm>
            <a:off x="571500" y="5561798"/>
            <a:ext cx="1576715" cy="37446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r>
              <a:rPr lang="en-US" sz="1050">
                <a:solidFill>
                  <a:srgbClr val="646B6B"/>
                </a:solidFill>
                <a:latin typeface="Open Sans"/>
                <a:ea typeface="Open Sans"/>
                <a:cs typeface="Open Sans"/>
              </a:rPr>
              <a:t>Residential accounts with arrears &gt;0</a:t>
            </a:r>
            <a:endParaRPr lang="en-US" sz="1050">
              <a:solidFill>
                <a:srgbClr val="646B6B"/>
              </a:solidFill>
            </a:endParaRPr>
          </a:p>
        </p:txBody>
      </p:sp>
      <p:sp>
        <p:nvSpPr>
          <p:cNvPr id="13" name="TextBox 12">
            <a:extLst>
              <a:ext uri="{FF2B5EF4-FFF2-40B4-BE49-F238E27FC236}">
                <a16:creationId xmlns:a16="http://schemas.microsoft.com/office/drawing/2014/main" id="{8975082F-1A0F-EEBE-187C-BE3805DDE476}"/>
              </a:ext>
            </a:extLst>
          </p:cNvPr>
          <p:cNvSpPr txBox="1"/>
          <p:nvPr/>
        </p:nvSpPr>
        <p:spPr>
          <a:xfrm>
            <a:off x="2527384" y="3566064"/>
            <a:ext cx="1066383" cy="4875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pPr defTabSz="412750" hangingPunct="0">
              <a:lnSpc>
                <a:spcPct val="90000"/>
              </a:lnSpc>
            </a:pPr>
            <a:r>
              <a:rPr lang="en-US" sz="3150">
                <a:latin typeface="Open Sans"/>
                <a:ea typeface="Open Sans"/>
                <a:cs typeface="Open Sans"/>
              </a:rPr>
              <a:t>2.5K</a:t>
            </a:r>
            <a:endParaRPr lang="en-US" sz="3150">
              <a:solidFill>
                <a:srgbClr val="000000"/>
              </a:solidFill>
              <a:latin typeface="Open Sans"/>
              <a:ea typeface="Open Sans"/>
              <a:cs typeface="Open Sans"/>
            </a:endParaRPr>
          </a:p>
        </p:txBody>
      </p:sp>
      <p:sp>
        <p:nvSpPr>
          <p:cNvPr id="15" name="TextBox 14">
            <a:extLst>
              <a:ext uri="{FF2B5EF4-FFF2-40B4-BE49-F238E27FC236}">
                <a16:creationId xmlns:a16="http://schemas.microsoft.com/office/drawing/2014/main" id="{4FDF6275-1577-1B48-AE5D-E9F0651ED283}"/>
              </a:ext>
            </a:extLst>
          </p:cNvPr>
          <p:cNvSpPr txBox="1"/>
          <p:nvPr/>
        </p:nvSpPr>
        <p:spPr>
          <a:xfrm>
            <a:off x="2508739" y="5561798"/>
            <a:ext cx="1473770" cy="2128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r>
              <a:rPr lang="en-US" sz="1050">
                <a:solidFill>
                  <a:srgbClr val="646B6B"/>
                </a:solidFill>
                <a:latin typeface="Open Sans"/>
                <a:ea typeface="Open Sans"/>
                <a:cs typeface="Open Sans"/>
              </a:rPr>
              <a:t>&gt;0 arrears residential </a:t>
            </a:r>
            <a:endParaRPr lang="en-US" sz="1050">
              <a:solidFill>
                <a:srgbClr val="646B6B"/>
              </a:solidFill>
            </a:endParaRPr>
          </a:p>
        </p:txBody>
      </p:sp>
      <p:sp>
        <p:nvSpPr>
          <p:cNvPr id="18" name="TextBox 17">
            <a:extLst>
              <a:ext uri="{FF2B5EF4-FFF2-40B4-BE49-F238E27FC236}">
                <a16:creationId xmlns:a16="http://schemas.microsoft.com/office/drawing/2014/main" id="{5059331C-640A-605E-7EA6-9885D1A53801}"/>
              </a:ext>
            </a:extLst>
          </p:cNvPr>
          <p:cNvSpPr txBox="1"/>
          <p:nvPr/>
        </p:nvSpPr>
        <p:spPr>
          <a:xfrm>
            <a:off x="4499488" y="3492869"/>
            <a:ext cx="1937240" cy="6745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pPr defTabSz="412750" hangingPunct="0">
              <a:lnSpc>
                <a:spcPct val="90000"/>
              </a:lnSpc>
            </a:pPr>
            <a:r>
              <a:rPr lang="en-US" sz="4500">
                <a:solidFill>
                  <a:srgbClr val="069BD7"/>
                </a:solidFill>
                <a:latin typeface="Open Sans"/>
              </a:rPr>
              <a:t>111</a:t>
            </a:r>
            <a:r>
              <a:rPr lang="en-US" sz="3150">
                <a:solidFill>
                  <a:srgbClr val="069BD7"/>
                </a:solidFill>
                <a:latin typeface="Open Sans"/>
              </a:rPr>
              <a:t>K</a:t>
            </a:r>
          </a:p>
        </p:txBody>
      </p:sp>
      <p:sp>
        <p:nvSpPr>
          <p:cNvPr id="19" name="TextBox 18">
            <a:extLst>
              <a:ext uri="{FF2B5EF4-FFF2-40B4-BE49-F238E27FC236}">
                <a16:creationId xmlns:a16="http://schemas.microsoft.com/office/drawing/2014/main" id="{7A66E20D-EFC4-90EE-7D06-0DD5E1FF237F}"/>
              </a:ext>
            </a:extLst>
          </p:cNvPr>
          <p:cNvSpPr txBox="1"/>
          <p:nvPr/>
        </p:nvSpPr>
        <p:spPr>
          <a:xfrm>
            <a:off x="4499490" y="4167412"/>
            <a:ext cx="2206177" cy="2128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r>
              <a:rPr lang="en-US" sz="1050">
                <a:solidFill>
                  <a:srgbClr val="646B6B"/>
                </a:solidFill>
                <a:latin typeface="Open Sans"/>
                <a:ea typeface="Open Sans"/>
                <a:cs typeface="Open Sans"/>
              </a:rPr>
              <a:t>0 arrears non-res</a:t>
            </a:r>
            <a:endParaRPr lang="en-US" sz="1050">
              <a:solidFill>
                <a:srgbClr val="646B6B"/>
              </a:solidFill>
            </a:endParaRPr>
          </a:p>
        </p:txBody>
      </p:sp>
      <p:sp>
        <p:nvSpPr>
          <p:cNvPr id="5" name="TextBox 4">
            <a:extLst>
              <a:ext uri="{FF2B5EF4-FFF2-40B4-BE49-F238E27FC236}">
                <a16:creationId xmlns:a16="http://schemas.microsoft.com/office/drawing/2014/main" id="{4A39327F-914C-E6F0-D4AB-3996FEE63C0D}"/>
              </a:ext>
            </a:extLst>
          </p:cNvPr>
          <p:cNvSpPr txBox="1"/>
          <p:nvPr/>
        </p:nvSpPr>
        <p:spPr>
          <a:xfrm>
            <a:off x="571500" y="3566064"/>
            <a:ext cx="1937240" cy="6745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pPr defTabSz="412750">
              <a:lnSpc>
                <a:spcPct val="90000"/>
              </a:lnSpc>
            </a:pPr>
            <a:r>
              <a:rPr lang="en-US" sz="4500">
                <a:latin typeface="Open Sans"/>
              </a:rPr>
              <a:t>89</a:t>
            </a:r>
            <a:r>
              <a:rPr lang="en-US" sz="3150">
                <a:latin typeface="Open Sans"/>
              </a:rPr>
              <a:t>K</a:t>
            </a:r>
          </a:p>
        </p:txBody>
      </p:sp>
      <p:sp>
        <p:nvSpPr>
          <p:cNvPr id="6" name="TextBox 5">
            <a:extLst>
              <a:ext uri="{FF2B5EF4-FFF2-40B4-BE49-F238E27FC236}">
                <a16:creationId xmlns:a16="http://schemas.microsoft.com/office/drawing/2014/main" id="{A450460C-1730-A8CB-90A5-FA81D107A675}"/>
              </a:ext>
            </a:extLst>
          </p:cNvPr>
          <p:cNvSpPr txBox="1"/>
          <p:nvPr/>
        </p:nvSpPr>
        <p:spPr>
          <a:xfrm>
            <a:off x="4546207" y="4886796"/>
            <a:ext cx="1144062" cy="6745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pPr defTabSz="412750" hangingPunct="0">
              <a:lnSpc>
                <a:spcPct val="90000"/>
              </a:lnSpc>
            </a:pPr>
            <a:r>
              <a:rPr lang="en-US" sz="4500">
                <a:solidFill>
                  <a:srgbClr val="069BD7"/>
                </a:solidFill>
                <a:latin typeface="Open Sans"/>
              </a:rPr>
              <a:t>89</a:t>
            </a:r>
            <a:r>
              <a:rPr lang="en-US" sz="3150">
                <a:solidFill>
                  <a:srgbClr val="069BD7"/>
                </a:solidFill>
                <a:latin typeface="Open Sans"/>
              </a:rPr>
              <a:t>K</a:t>
            </a:r>
          </a:p>
        </p:txBody>
      </p:sp>
      <p:sp>
        <p:nvSpPr>
          <p:cNvPr id="9" name="TextBox 8">
            <a:extLst>
              <a:ext uri="{FF2B5EF4-FFF2-40B4-BE49-F238E27FC236}">
                <a16:creationId xmlns:a16="http://schemas.microsoft.com/office/drawing/2014/main" id="{3B0D8615-E78F-FEB7-15DA-633B47C4137C}"/>
              </a:ext>
            </a:extLst>
          </p:cNvPr>
          <p:cNvSpPr txBox="1"/>
          <p:nvPr/>
        </p:nvSpPr>
        <p:spPr>
          <a:xfrm>
            <a:off x="4546207" y="5563465"/>
            <a:ext cx="1455539" cy="2128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r>
              <a:rPr lang="en-US" sz="1050">
                <a:solidFill>
                  <a:srgbClr val="646B6B"/>
                </a:solidFill>
                <a:latin typeface="Open Sans"/>
                <a:ea typeface="Open Sans"/>
                <a:cs typeface="Open Sans"/>
              </a:rPr>
              <a:t>0 arrears residential</a:t>
            </a:r>
            <a:endParaRPr lang="en-US" sz="1050">
              <a:solidFill>
                <a:srgbClr val="646B6B"/>
              </a:solidFill>
            </a:endParaRPr>
          </a:p>
        </p:txBody>
      </p:sp>
      <p:sp>
        <p:nvSpPr>
          <p:cNvPr id="14" name="TextBox 13">
            <a:extLst>
              <a:ext uri="{FF2B5EF4-FFF2-40B4-BE49-F238E27FC236}">
                <a16:creationId xmlns:a16="http://schemas.microsoft.com/office/drawing/2014/main" id="{349CEB45-31D1-5EAE-0EB8-5999EC28BE87}"/>
              </a:ext>
            </a:extLst>
          </p:cNvPr>
          <p:cNvSpPr txBox="1"/>
          <p:nvPr/>
        </p:nvSpPr>
        <p:spPr>
          <a:xfrm>
            <a:off x="571500" y="2327284"/>
            <a:ext cx="1937240" cy="6745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pPr defTabSz="412750">
              <a:lnSpc>
                <a:spcPct val="90000"/>
              </a:lnSpc>
            </a:pPr>
            <a:r>
              <a:rPr lang="en-US" sz="4500">
                <a:latin typeface="Open Sans"/>
              </a:rPr>
              <a:t>3200</a:t>
            </a:r>
            <a:r>
              <a:rPr lang="en-US" sz="3150">
                <a:latin typeface="Open Sans"/>
              </a:rPr>
              <a:t>K</a:t>
            </a:r>
            <a:endParaRPr lang="en-US" sz="4500">
              <a:latin typeface="Open Sans"/>
            </a:endParaRPr>
          </a:p>
        </p:txBody>
      </p:sp>
      <p:sp>
        <p:nvSpPr>
          <p:cNvPr id="17" name="TextBox 16">
            <a:extLst>
              <a:ext uri="{FF2B5EF4-FFF2-40B4-BE49-F238E27FC236}">
                <a16:creationId xmlns:a16="http://schemas.microsoft.com/office/drawing/2014/main" id="{3F7C3A30-060F-FCAE-7D16-06BDB360DA2A}"/>
              </a:ext>
            </a:extLst>
          </p:cNvPr>
          <p:cNvSpPr txBox="1"/>
          <p:nvPr/>
        </p:nvSpPr>
        <p:spPr>
          <a:xfrm>
            <a:off x="571500" y="2975894"/>
            <a:ext cx="1937239" cy="2128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r>
              <a:rPr lang="en-US" sz="1050" dirty="0">
                <a:solidFill>
                  <a:srgbClr val="646B6B"/>
                </a:solidFill>
                <a:latin typeface="Open Sans"/>
                <a:ea typeface="Open Sans"/>
                <a:cs typeface="Open Sans"/>
              </a:rPr>
              <a:t>Service through CSR</a:t>
            </a:r>
            <a:endParaRPr lang="en-US" sz="1050" dirty="0">
              <a:solidFill>
                <a:srgbClr val="646B6B"/>
              </a:solidFill>
            </a:endParaRPr>
          </a:p>
        </p:txBody>
      </p:sp>
      <p:sp>
        <p:nvSpPr>
          <p:cNvPr id="20" name="TextBox 19">
            <a:extLst>
              <a:ext uri="{FF2B5EF4-FFF2-40B4-BE49-F238E27FC236}">
                <a16:creationId xmlns:a16="http://schemas.microsoft.com/office/drawing/2014/main" id="{31847ED5-3AE4-03C0-C3A8-E4E6BBDAEADD}"/>
              </a:ext>
            </a:extLst>
          </p:cNvPr>
          <p:cNvSpPr txBox="1"/>
          <p:nvPr/>
        </p:nvSpPr>
        <p:spPr>
          <a:xfrm>
            <a:off x="2527384" y="4198193"/>
            <a:ext cx="2206177" cy="2128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r>
              <a:rPr lang="en-US" sz="1050">
                <a:solidFill>
                  <a:srgbClr val="646B6B"/>
                </a:solidFill>
                <a:latin typeface="Open Sans"/>
                <a:ea typeface="Open Sans"/>
                <a:cs typeface="Open Sans"/>
              </a:rPr>
              <a:t>&gt;0 arrears non-res</a:t>
            </a:r>
            <a:endParaRPr lang="en-US" sz="1050">
              <a:solidFill>
                <a:srgbClr val="646B6B"/>
              </a:solidFill>
            </a:endParaRPr>
          </a:p>
        </p:txBody>
      </p:sp>
      <p:sp>
        <p:nvSpPr>
          <p:cNvPr id="21" name="TextBox 20">
            <a:extLst>
              <a:ext uri="{FF2B5EF4-FFF2-40B4-BE49-F238E27FC236}">
                <a16:creationId xmlns:a16="http://schemas.microsoft.com/office/drawing/2014/main" id="{FB7192DF-DBCE-6F8A-95B3-00350E82E0DE}"/>
              </a:ext>
            </a:extLst>
          </p:cNvPr>
          <p:cNvSpPr txBox="1"/>
          <p:nvPr/>
        </p:nvSpPr>
        <p:spPr>
          <a:xfrm>
            <a:off x="2499463" y="4929150"/>
            <a:ext cx="1144062" cy="6745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pPr defTabSz="412750" hangingPunct="0">
              <a:lnSpc>
                <a:spcPct val="90000"/>
              </a:lnSpc>
            </a:pPr>
            <a:r>
              <a:rPr lang="en-US" sz="4500">
                <a:latin typeface="Open Sans"/>
                <a:ea typeface="Open Sans"/>
                <a:cs typeface="Open Sans"/>
              </a:rPr>
              <a:t>1.8</a:t>
            </a:r>
            <a:r>
              <a:rPr lang="en-US" sz="3150">
                <a:latin typeface="Open Sans"/>
                <a:ea typeface="Open Sans"/>
                <a:cs typeface="Open Sans"/>
              </a:rPr>
              <a:t>K</a:t>
            </a:r>
            <a:endParaRPr lang="en-US" sz="3150">
              <a:solidFill>
                <a:srgbClr val="000000"/>
              </a:solidFill>
              <a:latin typeface="Open Sans"/>
              <a:ea typeface="Open Sans"/>
              <a:cs typeface="Open Sans"/>
            </a:endParaRPr>
          </a:p>
        </p:txBody>
      </p:sp>
      <p:sp>
        <p:nvSpPr>
          <p:cNvPr id="22" name="TextBox 21">
            <a:extLst>
              <a:ext uri="{FF2B5EF4-FFF2-40B4-BE49-F238E27FC236}">
                <a16:creationId xmlns:a16="http://schemas.microsoft.com/office/drawing/2014/main" id="{CF79834A-1710-6910-6F64-F9418B2B1168}"/>
              </a:ext>
            </a:extLst>
          </p:cNvPr>
          <p:cNvSpPr txBox="1"/>
          <p:nvPr/>
        </p:nvSpPr>
        <p:spPr>
          <a:xfrm>
            <a:off x="604433" y="4198193"/>
            <a:ext cx="1499940" cy="37446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r>
              <a:rPr lang="en-US" sz="1050" err="1">
                <a:solidFill>
                  <a:srgbClr val="646B6B"/>
                </a:solidFill>
                <a:latin typeface="Open Sans"/>
                <a:ea typeface="Open Sans"/>
                <a:cs typeface="Open Sans"/>
              </a:rPr>
              <a:t>Non_res</a:t>
            </a:r>
            <a:r>
              <a:rPr lang="en-US" sz="1050">
                <a:solidFill>
                  <a:srgbClr val="646B6B"/>
                </a:solidFill>
                <a:latin typeface="Open Sans"/>
                <a:ea typeface="Open Sans"/>
                <a:cs typeface="Open Sans"/>
              </a:rPr>
              <a:t> accounts with &gt;0 arrears</a:t>
            </a:r>
          </a:p>
        </p:txBody>
      </p:sp>
      <p:sp>
        <p:nvSpPr>
          <p:cNvPr id="16" name="TextBox 15">
            <a:extLst>
              <a:ext uri="{FF2B5EF4-FFF2-40B4-BE49-F238E27FC236}">
                <a16:creationId xmlns:a16="http://schemas.microsoft.com/office/drawing/2014/main" id="{09343C01-8739-A6BD-6688-ED3A03F528D2}"/>
              </a:ext>
            </a:extLst>
          </p:cNvPr>
          <p:cNvSpPr txBox="1"/>
          <p:nvPr/>
        </p:nvSpPr>
        <p:spPr>
          <a:xfrm>
            <a:off x="7339410" y="1380227"/>
            <a:ext cx="4852591" cy="160249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pPr>
              <a:lnSpc>
                <a:spcPct val="90000"/>
              </a:lnSpc>
            </a:pPr>
            <a:r>
              <a:rPr lang="en-US" sz="2000">
                <a:solidFill>
                  <a:srgbClr val="333333"/>
                </a:solidFill>
                <a:latin typeface="Segoe UI"/>
                <a:ea typeface="Calibri"/>
                <a:cs typeface="Segoe UI"/>
              </a:rPr>
              <a:t>The missed opportunity for DCX lies in new customers (111K residential, 89K non-residential) with zero arrears who rely heavily on CSR channels.</a:t>
            </a:r>
            <a:endParaRPr lang="en-US" sz="2000">
              <a:solidFill>
                <a:srgbClr val="000000"/>
              </a:solidFill>
              <a:ea typeface="Calibri"/>
              <a:cs typeface="Calibri"/>
            </a:endParaRPr>
          </a:p>
          <a:p>
            <a:pPr defTabSz="412750" hangingPunct="0">
              <a:lnSpc>
                <a:spcPct val="90000"/>
              </a:lnSpc>
            </a:pPr>
            <a:endParaRPr lang="en-US" sz="3200" b="1">
              <a:solidFill>
                <a:srgbClr val="000000"/>
              </a:solidFill>
              <a:latin typeface="Futura Maxi Book" panose="020B0503000000020004" pitchFamily="34" charset="0"/>
              <a:sym typeface="Open Sans"/>
            </a:endParaRPr>
          </a:p>
        </p:txBody>
      </p:sp>
      <p:graphicFrame>
        <p:nvGraphicFramePr>
          <p:cNvPr id="23" name="Table 22">
            <a:extLst>
              <a:ext uri="{FF2B5EF4-FFF2-40B4-BE49-F238E27FC236}">
                <a16:creationId xmlns:a16="http://schemas.microsoft.com/office/drawing/2014/main" id="{30C5CE32-591F-C8CA-3B29-9489F9523CE7}"/>
              </a:ext>
            </a:extLst>
          </p:cNvPr>
          <p:cNvGraphicFramePr>
            <a:graphicFrameLocks noGrp="1"/>
          </p:cNvGraphicFramePr>
          <p:nvPr/>
        </p:nvGraphicFramePr>
        <p:xfrm>
          <a:off x="7366969" y="3334620"/>
          <a:ext cx="4615481" cy="3313834"/>
        </p:xfrm>
        <a:graphic>
          <a:graphicData uri="http://schemas.openxmlformats.org/drawingml/2006/table">
            <a:tbl>
              <a:tblPr>
                <a:tableStyleId>{5940675A-B579-460E-94D1-54222C63F5DA}</a:tableStyleId>
              </a:tblPr>
              <a:tblGrid>
                <a:gridCol w="2619017">
                  <a:extLst>
                    <a:ext uri="{9D8B030D-6E8A-4147-A177-3AD203B41FA5}">
                      <a16:colId xmlns:a16="http://schemas.microsoft.com/office/drawing/2014/main" val="3059012904"/>
                    </a:ext>
                  </a:extLst>
                </a:gridCol>
                <a:gridCol w="1996464">
                  <a:extLst>
                    <a:ext uri="{9D8B030D-6E8A-4147-A177-3AD203B41FA5}">
                      <a16:colId xmlns:a16="http://schemas.microsoft.com/office/drawing/2014/main" val="3469069854"/>
                    </a:ext>
                  </a:extLst>
                </a:gridCol>
              </a:tblGrid>
              <a:tr h="316799">
                <a:tc>
                  <a:txBody>
                    <a:bodyPr/>
                    <a:lstStyle/>
                    <a:p>
                      <a:pPr algn="r" fontAlgn="b">
                        <a:buNone/>
                      </a:pPr>
                      <a:r>
                        <a:rPr lang="en-US" sz="1400" b="0" u="none" strike="noStrike">
                          <a:effectLst/>
                        </a:rPr>
                        <a:t> count(Acct_id) </a:t>
                      </a:r>
                      <a:endParaRPr lang="en-US" sz="1400" b="0" i="0" u="none" strike="noStrike">
                        <a:solidFill>
                          <a:srgbClr val="000000"/>
                        </a:solidFill>
                        <a:effectLst/>
                        <a:latin typeface="Aptos Narrow" panose="020B0004020202020204" pitchFamily="34" charset="0"/>
                      </a:endParaRPr>
                    </a:p>
                  </a:txBody>
                  <a:tcPr marL="3175" marR="3175" marT="3175" marB="0" anchor="b"/>
                </a:tc>
                <a:tc>
                  <a:txBody>
                    <a:bodyPr/>
                    <a:lstStyle/>
                    <a:p>
                      <a:pPr algn="r" fontAlgn="b">
                        <a:buNone/>
                      </a:pPr>
                      <a:r>
                        <a:rPr lang="en-US" sz="1400" b="0" u="none" strike="noStrike">
                          <a:effectLst/>
                        </a:rPr>
                        <a:t> ACCOUNT_AGE </a:t>
                      </a:r>
                      <a:endParaRPr lang="en-US" sz="1400" b="0" i="0" u="none" strike="noStrike">
                        <a:solidFill>
                          <a:srgbClr val="000000"/>
                        </a:solidFill>
                        <a:effectLst/>
                        <a:latin typeface="Aptos Narrow" panose="020B0004020202020204" pitchFamily="34" charset="0"/>
                      </a:endParaRPr>
                    </a:p>
                  </a:txBody>
                  <a:tcPr marL="3175" marR="3175" marT="3175" marB="0" anchor="b"/>
                </a:tc>
                <a:extLst>
                  <a:ext uri="{0D108BD9-81ED-4DB2-BD59-A6C34878D82A}">
                    <a16:rowId xmlns:a16="http://schemas.microsoft.com/office/drawing/2014/main" val="2013814567"/>
                  </a:ext>
                </a:extLst>
              </a:tr>
              <a:tr h="599407">
                <a:tc>
                  <a:txBody>
                    <a:bodyPr/>
                    <a:lstStyle/>
                    <a:p>
                      <a:pPr algn="r" fontAlgn="b">
                        <a:buNone/>
                      </a:pPr>
                      <a:r>
                        <a:rPr lang="en-US" sz="1400" b="0" u="none" strike="noStrike">
                          <a:effectLst/>
                        </a:rPr>
                        <a:t>                                        192,582 </a:t>
                      </a:r>
                      <a:endParaRPr lang="en-US" sz="1400" b="0" i="0" u="none" strike="noStrike">
                        <a:solidFill>
                          <a:srgbClr val="000000"/>
                        </a:solidFill>
                        <a:effectLst/>
                        <a:latin typeface="Aptos Narrow" panose="020B0004020202020204" pitchFamily="34" charset="0"/>
                      </a:endParaRPr>
                    </a:p>
                  </a:txBody>
                  <a:tcPr marL="3175" marR="3175" marT="3175" marB="0" anchor="b"/>
                </a:tc>
                <a:tc>
                  <a:txBody>
                    <a:bodyPr/>
                    <a:lstStyle/>
                    <a:p>
                      <a:pPr algn="r" fontAlgn="b">
                        <a:buNone/>
                      </a:pPr>
                      <a:r>
                        <a:rPr lang="en-US" sz="1400" b="0" u="none" strike="noStrike">
                          <a:effectLst/>
                        </a:rPr>
                        <a:t> 0 to 1 years </a:t>
                      </a:r>
                      <a:endParaRPr lang="en-US" sz="1400" b="0" i="0" u="none" strike="noStrike">
                        <a:solidFill>
                          <a:srgbClr val="000000"/>
                        </a:solidFill>
                        <a:effectLst/>
                        <a:latin typeface="Aptos Narrow" panose="020B0004020202020204" pitchFamily="34" charset="0"/>
                      </a:endParaRPr>
                    </a:p>
                  </a:txBody>
                  <a:tcPr marL="3175" marR="3175" marT="3175" marB="0" anchor="b"/>
                </a:tc>
                <a:extLst>
                  <a:ext uri="{0D108BD9-81ED-4DB2-BD59-A6C34878D82A}">
                    <a16:rowId xmlns:a16="http://schemas.microsoft.com/office/drawing/2014/main" val="86434585"/>
                  </a:ext>
                </a:extLst>
              </a:tr>
              <a:tr h="599407">
                <a:tc>
                  <a:txBody>
                    <a:bodyPr/>
                    <a:lstStyle/>
                    <a:p>
                      <a:pPr algn="r" fontAlgn="b">
                        <a:buNone/>
                      </a:pPr>
                      <a:r>
                        <a:rPr lang="en-US" sz="1400" b="0" u="none" strike="noStrike">
                          <a:effectLst/>
                        </a:rPr>
                        <a:t>                                             1,691 </a:t>
                      </a:r>
                      <a:endParaRPr lang="en-US" sz="1400" b="0" i="0" u="none" strike="noStrike">
                        <a:solidFill>
                          <a:srgbClr val="000000"/>
                        </a:solidFill>
                        <a:effectLst/>
                        <a:latin typeface="Aptos Narrow" panose="020B0004020202020204" pitchFamily="34" charset="0"/>
                      </a:endParaRPr>
                    </a:p>
                  </a:txBody>
                  <a:tcPr marL="3175" marR="3175" marT="3175" marB="0" anchor="b"/>
                </a:tc>
                <a:tc>
                  <a:txBody>
                    <a:bodyPr/>
                    <a:lstStyle/>
                    <a:p>
                      <a:pPr algn="r" fontAlgn="b">
                        <a:buNone/>
                      </a:pPr>
                      <a:r>
                        <a:rPr lang="en-US" sz="1400" b="0" u="none" strike="noStrike">
                          <a:effectLst/>
                        </a:rPr>
                        <a:t> 1 to 3 years </a:t>
                      </a:r>
                      <a:endParaRPr lang="en-US" sz="1400" b="0" i="0" u="none" strike="noStrike">
                        <a:solidFill>
                          <a:srgbClr val="000000"/>
                        </a:solidFill>
                        <a:effectLst/>
                        <a:latin typeface="Aptos Narrow" panose="020B0004020202020204" pitchFamily="34" charset="0"/>
                      </a:endParaRPr>
                    </a:p>
                  </a:txBody>
                  <a:tcPr marL="3175" marR="3175" marT="3175" marB="0" anchor="b"/>
                </a:tc>
                <a:extLst>
                  <a:ext uri="{0D108BD9-81ED-4DB2-BD59-A6C34878D82A}">
                    <a16:rowId xmlns:a16="http://schemas.microsoft.com/office/drawing/2014/main" val="1617879122"/>
                  </a:ext>
                </a:extLst>
              </a:tr>
              <a:tr h="599407">
                <a:tc>
                  <a:txBody>
                    <a:bodyPr/>
                    <a:lstStyle/>
                    <a:p>
                      <a:pPr algn="r" fontAlgn="b">
                        <a:buNone/>
                      </a:pPr>
                      <a:r>
                        <a:rPr lang="en-US" sz="1400" b="0" u="none" strike="noStrike">
                          <a:effectLst/>
                        </a:rPr>
                        <a:t>                                             1,077 </a:t>
                      </a:r>
                      <a:endParaRPr lang="en-US" sz="1400" b="0" i="0" u="none" strike="noStrike">
                        <a:solidFill>
                          <a:srgbClr val="000000"/>
                        </a:solidFill>
                        <a:effectLst/>
                        <a:latin typeface="Aptos Narrow" panose="020B0004020202020204" pitchFamily="34" charset="0"/>
                      </a:endParaRPr>
                    </a:p>
                  </a:txBody>
                  <a:tcPr marL="3175" marR="3175" marT="3175" marB="0" anchor="b"/>
                </a:tc>
                <a:tc>
                  <a:txBody>
                    <a:bodyPr/>
                    <a:lstStyle/>
                    <a:p>
                      <a:pPr algn="r" fontAlgn="b">
                        <a:buNone/>
                      </a:pPr>
                      <a:r>
                        <a:rPr lang="en-US" sz="1400" b="0" u="none" strike="noStrike">
                          <a:effectLst/>
                        </a:rPr>
                        <a:t> 10 plus years </a:t>
                      </a:r>
                      <a:endParaRPr lang="en-US" sz="1400" b="0" i="0" u="none" strike="noStrike">
                        <a:solidFill>
                          <a:srgbClr val="000000"/>
                        </a:solidFill>
                        <a:effectLst/>
                        <a:latin typeface="Aptos Narrow" panose="020B0004020202020204" pitchFamily="34" charset="0"/>
                      </a:endParaRPr>
                    </a:p>
                  </a:txBody>
                  <a:tcPr marL="3175" marR="3175" marT="3175" marB="0" anchor="b"/>
                </a:tc>
                <a:extLst>
                  <a:ext uri="{0D108BD9-81ED-4DB2-BD59-A6C34878D82A}">
                    <a16:rowId xmlns:a16="http://schemas.microsoft.com/office/drawing/2014/main" val="895881769"/>
                  </a:ext>
                </a:extLst>
              </a:tr>
              <a:tr h="599407">
                <a:tc>
                  <a:txBody>
                    <a:bodyPr/>
                    <a:lstStyle/>
                    <a:p>
                      <a:pPr algn="r" fontAlgn="b">
                        <a:buNone/>
                      </a:pPr>
                      <a:r>
                        <a:rPr lang="en-US" sz="1400" b="0" u="none" strike="noStrike">
                          <a:effectLst/>
                        </a:rPr>
                        <a:t>                                                  551 </a:t>
                      </a:r>
                      <a:endParaRPr lang="en-US" sz="1400" b="0" i="0" u="none" strike="noStrike">
                        <a:solidFill>
                          <a:srgbClr val="000000"/>
                        </a:solidFill>
                        <a:effectLst/>
                        <a:latin typeface="Aptos Narrow" panose="020B0004020202020204" pitchFamily="34" charset="0"/>
                      </a:endParaRPr>
                    </a:p>
                  </a:txBody>
                  <a:tcPr marL="3175" marR="3175" marT="3175" marB="0" anchor="b"/>
                </a:tc>
                <a:tc>
                  <a:txBody>
                    <a:bodyPr/>
                    <a:lstStyle/>
                    <a:p>
                      <a:pPr algn="r" fontAlgn="b">
                        <a:buNone/>
                      </a:pPr>
                      <a:r>
                        <a:rPr lang="en-US" sz="1400" b="0" u="none" strike="noStrike">
                          <a:effectLst/>
                        </a:rPr>
                        <a:t> 3 to 5 years </a:t>
                      </a:r>
                      <a:endParaRPr lang="en-US" sz="1400" b="0" i="0" u="none" strike="noStrike">
                        <a:solidFill>
                          <a:srgbClr val="000000"/>
                        </a:solidFill>
                        <a:effectLst/>
                        <a:latin typeface="Aptos Narrow" panose="020B0004020202020204" pitchFamily="34" charset="0"/>
                      </a:endParaRPr>
                    </a:p>
                  </a:txBody>
                  <a:tcPr marL="3175" marR="3175" marT="3175" marB="0" anchor="b"/>
                </a:tc>
                <a:extLst>
                  <a:ext uri="{0D108BD9-81ED-4DB2-BD59-A6C34878D82A}">
                    <a16:rowId xmlns:a16="http://schemas.microsoft.com/office/drawing/2014/main" val="2128917383"/>
                  </a:ext>
                </a:extLst>
              </a:tr>
              <a:tr h="599407">
                <a:tc>
                  <a:txBody>
                    <a:bodyPr/>
                    <a:lstStyle/>
                    <a:p>
                      <a:pPr algn="r" fontAlgn="b">
                        <a:buNone/>
                      </a:pPr>
                      <a:r>
                        <a:rPr lang="en-US" sz="1400" b="0" u="none" strike="noStrike">
                          <a:effectLst/>
                        </a:rPr>
                        <a:t>                                                  595 </a:t>
                      </a:r>
                      <a:endParaRPr lang="en-US" sz="1400" b="0" i="0" u="none" strike="noStrike">
                        <a:solidFill>
                          <a:srgbClr val="000000"/>
                        </a:solidFill>
                        <a:effectLst/>
                        <a:latin typeface="Aptos Narrow" panose="020B0004020202020204" pitchFamily="34" charset="0"/>
                      </a:endParaRPr>
                    </a:p>
                  </a:txBody>
                  <a:tcPr marL="3175" marR="3175" marT="3175" marB="0" anchor="b"/>
                </a:tc>
                <a:tc>
                  <a:txBody>
                    <a:bodyPr/>
                    <a:lstStyle/>
                    <a:p>
                      <a:pPr algn="r" fontAlgn="b">
                        <a:buNone/>
                      </a:pPr>
                      <a:r>
                        <a:rPr lang="en-US" sz="1400" b="0" u="none" strike="noStrike">
                          <a:effectLst/>
                        </a:rPr>
                        <a:t> 5 to 10 years </a:t>
                      </a:r>
                      <a:endParaRPr lang="en-US" sz="1400" b="0" i="0" u="none" strike="noStrike">
                        <a:solidFill>
                          <a:srgbClr val="000000"/>
                        </a:solidFill>
                        <a:effectLst/>
                        <a:latin typeface="Aptos Narrow" panose="020B0004020202020204" pitchFamily="34" charset="0"/>
                      </a:endParaRPr>
                    </a:p>
                  </a:txBody>
                  <a:tcPr marL="3175" marR="3175" marT="3175" marB="0" anchor="b"/>
                </a:tc>
                <a:extLst>
                  <a:ext uri="{0D108BD9-81ED-4DB2-BD59-A6C34878D82A}">
                    <a16:rowId xmlns:a16="http://schemas.microsoft.com/office/drawing/2014/main" val="2352637544"/>
                  </a:ext>
                </a:extLst>
              </a:tr>
            </a:tbl>
          </a:graphicData>
        </a:graphic>
      </p:graphicFrame>
    </p:spTree>
    <p:extLst>
      <p:ext uri="{BB962C8B-B14F-4D97-AF65-F5344CB8AC3E}">
        <p14:creationId xmlns:p14="http://schemas.microsoft.com/office/powerpoint/2010/main" val="2264473378"/>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5F2CD2-643E-5B60-FC89-F7A7440E31C0}"/>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F2BB17FA-92CB-0927-056E-45B5ACE4E819}"/>
              </a:ext>
            </a:extLst>
          </p:cNvPr>
          <p:cNvSpPr>
            <a:spLocks noGrp="1"/>
          </p:cNvSpPr>
          <p:nvPr>
            <p:ph type="body" sz="quarter" idx="41"/>
          </p:nvPr>
        </p:nvSpPr>
        <p:spPr/>
        <p:txBody>
          <a:bodyPr/>
          <a:lstStyle/>
          <a:p>
            <a:r>
              <a:rPr lang="en-US">
                <a:latin typeface="Open Sans Extrabold"/>
                <a:ea typeface="Open Sans Extrabold"/>
                <a:cs typeface="Open Sans Extrabold"/>
              </a:rPr>
              <a:t>DATA ANALYSIS</a:t>
            </a:r>
            <a:endParaRPr lang="en-US"/>
          </a:p>
        </p:txBody>
      </p:sp>
      <p:sp>
        <p:nvSpPr>
          <p:cNvPr id="3" name="Text Placeholder 2">
            <a:extLst>
              <a:ext uri="{FF2B5EF4-FFF2-40B4-BE49-F238E27FC236}">
                <a16:creationId xmlns:a16="http://schemas.microsoft.com/office/drawing/2014/main" id="{93F5FC49-52C4-586E-2E43-692213774594}"/>
              </a:ext>
            </a:extLst>
          </p:cNvPr>
          <p:cNvSpPr>
            <a:spLocks noGrp="1"/>
          </p:cNvSpPr>
          <p:nvPr>
            <p:ph type="body" sz="quarter" idx="42"/>
          </p:nvPr>
        </p:nvSpPr>
        <p:spPr>
          <a:xfrm>
            <a:off x="571500" y="745589"/>
            <a:ext cx="5524501" cy="672904"/>
          </a:xfrm>
        </p:spPr>
        <p:txBody>
          <a:bodyPr/>
          <a:lstStyle/>
          <a:p>
            <a:r>
              <a:rPr lang="en-US">
                <a:latin typeface="Lexend"/>
                <a:ea typeface="Open Sans"/>
                <a:cs typeface="Open Sans"/>
              </a:rPr>
              <a:t>Explore downstream error - resulting in API call failure.</a:t>
            </a:r>
            <a:endParaRPr lang="en-US"/>
          </a:p>
        </p:txBody>
      </p:sp>
      <p:sp>
        <p:nvSpPr>
          <p:cNvPr id="10" name="TextBox 9">
            <a:extLst>
              <a:ext uri="{FF2B5EF4-FFF2-40B4-BE49-F238E27FC236}">
                <a16:creationId xmlns:a16="http://schemas.microsoft.com/office/drawing/2014/main" id="{6EBDA36F-8E63-82D2-16F1-A803968AF39C}"/>
              </a:ext>
            </a:extLst>
          </p:cNvPr>
          <p:cNvSpPr txBox="1"/>
          <p:nvPr/>
        </p:nvSpPr>
        <p:spPr>
          <a:xfrm>
            <a:off x="571500" y="1640713"/>
            <a:ext cx="5151120" cy="21749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r>
              <a:rPr lang="en-US" sz="1200" b="1">
                <a:ea typeface="+mn-lt"/>
                <a:cs typeface="+mn-lt"/>
              </a:rPr>
              <a:t>Insight:</a:t>
            </a:r>
          </a:p>
          <a:p>
            <a:r>
              <a:rPr lang="en-US" sz="1400">
                <a:ea typeface="+mn-lt"/>
                <a:cs typeface="+mn-lt"/>
              </a:rPr>
              <a:t>Top account issues preventing digital transactions:</a:t>
            </a:r>
            <a:endParaRPr lang="en-US" sz="900">
              <a:ea typeface="+mn-lt"/>
              <a:cs typeface="+mn-lt"/>
            </a:endParaRPr>
          </a:p>
          <a:p>
            <a:pPr marL="142875" indent="-142875">
              <a:buFont typeface="Arial"/>
              <a:buChar char="•"/>
            </a:pPr>
            <a:r>
              <a:rPr lang="en-US" sz="1400">
                <a:ea typeface="+mn-lt"/>
                <a:cs typeface="+mn-lt"/>
              </a:rPr>
              <a:t>Service turned off for non-payment, ~12% of errors</a:t>
            </a:r>
          </a:p>
          <a:p>
            <a:pPr marL="142875" indent="-142875">
              <a:buFont typeface="Arial"/>
              <a:buChar char="•"/>
            </a:pPr>
            <a:r>
              <a:rPr lang="en-US" sz="1400">
                <a:ea typeface="+mn-lt"/>
                <a:cs typeface="+mn-lt"/>
              </a:rPr>
              <a:t>API call failure (downstream error), ~7% of errors</a:t>
            </a:r>
            <a:endParaRPr lang="en-US" sz="900"/>
          </a:p>
          <a:p>
            <a:pPr marL="142875" indent="-142875">
              <a:buFont typeface="Arial"/>
              <a:buChar char="•"/>
            </a:pPr>
            <a:r>
              <a:rPr lang="en-US" sz="1400">
                <a:ea typeface="+mn-lt"/>
                <a:cs typeface="+mn-lt"/>
              </a:rPr>
              <a:t>Ineligible rate class for online service start, ~11% of errors</a:t>
            </a:r>
          </a:p>
          <a:p>
            <a:pPr marL="142875" lvl="1" indent="-142875">
              <a:buFont typeface="Arial"/>
              <a:buChar char="•"/>
            </a:pPr>
            <a:r>
              <a:rPr lang="en-US" sz="1400"/>
              <a:t>The selected premise does not have a meter associated with it, ~8% of errors ( this was from a CCB issue that lasted over a month)</a:t>
            </a:r>
          </a:p>
          <a:p>
            <a:pPr marL="142875" indent="-142875">
              <a:buFont typeface="Arial"/>
              <a:buChar char="•"/>
            </a:pPr>
            <a:endParaRPr lang="en-US" sz="1400"/>
          </a:p>
          <a:p>
            <a:endParaRPr lang="en-US" sz="1400"/>
          </a:p>
        </p:txBody>
      </p:sp>
      <p:sp>
        <p:nvSpPr>
          <p:cNvPr id="12" name="TextBox 11">
            <a:extLst>
              <a:ext uri="{FF2B5EF4-FFF2-40B4-BE49-F238E27FC236}">
                <a16:creationId xmlns:a16="http://schemas.microsoft.com/office/drawing/2014/main" id="{7739C181-A8BC-3612-ECA8-E1BD9DD8BD89}"/>
              </a:ext>
            </a:extLst>
          </p:cNvPr>
          <p:cNvSpPr txBox="1"/>
          <p:nvPr/>
        </p:nvSpPr>
        <p:spPr>
          <a:xfrm>
            <a:off x="571500" y="3720332"/>
            <a:ext cx="5151121" cy="178606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pPr>
              <a:lnSpc>
                <a:spcPct val="113999"/>
              </a:lnSpc>
            </a:pPr>
            <a:r>
              <a:rPr lang="en-US" sz="1200" b="1">
                <a:ea typeface="+mn-lt"/>
                <a:cs typeface="+mn-lt"/>
              </a:rPr>
              <a:t>Recommendation: </a:t>
            </a:r>
            <a:endParaRPr lang="en-US" sz="900"/>
          </a:p>
          <a:p>
            <a:pPr>
              <a:lnSpc>
                <a:spcPct val="113999"/>
              </a:lnSpc>
            </a:pPr>
            <a:r>
              <a:rPr lang="en-US" sz="1400"/>
              <a:t>Set up monitoring in Azure Application Insights to track exceptions and error trends. Configure thresholds so that when specific error codes increase beyond normal levels, the team is automatically notified. This allows quick investigation and timely corrective action.</a:t>
            </a:r>
            <a:endParaRPr lang="en-US" sz="1400">
              <a:solidFill>
                <a:srgbClr val="646B6B"/>
              </a:solidFill>
              <a:ea typeface="+mn-lt"/>
              <a:cs typeface="+mn-lt"/>
            </a:endParaRPr>
          </a:p>
          <a:p>
            <a:endParaRPr lang="en-US" sz="900"/>
          </a:p>
          <a:p>
            <a:pPr>
              <a:lnSpc>
                <a:spcPct val="113999"/>
              </a:lnSpc>
            </a:pPr>
            <a:endParaRPr lang="en-US" sz="900"/>
          </a:p>
        </p:txBody>
      </p:sp>
      <p:graphicFrame>
        <p:nvGraphicFramePr>
          <p:cNvPr id="9" name="Table 8">
            <a:extLst>
              <a:ext uri="{FF2B5EF4-FFF2-40B4-BE49-F238E27FC236}">
                <a16:creationId xmlns:a16="http://schemas.microsoft.com/office/drawing/2014/main" id="{3A990DC9-DEBA-F31C-A28E-0722505718CD}"/>
              </a:ext>
            </a:extLst>
          </p:cNvPr>
          <p:cNvGraphicFramePr>
            <a:graphicFrameLocks noGrp="1"/>
          </p:cNvGraphicFramePr>
          <p:nvPr/>
        </p:nvGraphicFramePr>
        <p:xfrm>
          <a:off x="4165928" y="4364531"/>
          <a:ext cx="1360920" cy="137160"/>
        </p:xfrm>
        <a:graphic>
          <a:graphicData uri="http://schemas.openxmlformats.org/drawingml/2006/table">
            <a:tbl>
              <a:tblPr bandRow="1">
                <a:tableStyleId>{5940675A-B579-460E-94D1-54222C63F5DA}</a:tableStyleId>
              </a:tblPr>
              <a:tblGrid>
                <a:gridCol w="1360920">
                  <a:extLst>
                    <a:ext uri="{9D8B030D-6E8A-4147-A177-3AD203B41FA5}">
                      <a16:colId xmlns:a16="http://schemas.microsoft.com/office/drawing/2014/main" val="1353682409"/>
                    </a:ext>
                  </a:extLst>
                </a:gridCol>
              </a:tblGrid>
              <a:tr h="137160">
                <a:tc>
                  <a:txBody>
                    <a:bodyPr/>
                    <a:lstStyle/>
                    <a:p>
                      <a:pPr marL="457200" indent="-457200">
                        <a:buAutoNum type="arabicPeriod"/>
                      </a:pPr>
                      <a:endParaRPr lang="en-US" sz="900" b="0">
                        <a:effectLst/>
                      </a:endParaRPr>
                    </a:p>
                  </a:txBody>
                  <a:tcPr marL="0" marR="0" marT="0" marB="0" anchor="ctr">
                    <a:lnL>
                      <a:noFill/>
                    </a:lnL>
                    <a:lnR>
                      <a:noFill/>
                    </a:lnR>
                    <a:lnT>
                      <a:noFill/>
                    </a:lnT>
                    <a:lnB>
                      <a:noFill/>
                    </a:lnB>
                    <a:noFill/>
                  </a:tcPr>
                </a:tc>
                <a:extLst>
                  <a:ext uri="{0D108BD9-81ED-4DB2-BD59-A6C34878D82A}">
                    <a16:rowId xmlns:a16="http://schemas.microsoft.com/office/drawing/2014/main" val="3855205735"/>
                  </a:ext>
                </a:extLst>
              </a:tr>
            </a:tbl>
          </a:graphicData>
        </a:graphic>
      </p:graphicFrame>
    </p:spTree>
    <p:extLst>
      <p:ext uri="{BB962C8B-B14F-4D97-AF65-F5344CB8AC3E}">
        <p14:creationId xmlns:p14="http://schemas.microsoft.com/office/powerpoint/2010/main" val="3050886358"/>
      </p:ext>
    </p:extLst>
  </p:cSld>
  <p:clrMapOvr>
    <a:masterClrMapping/>
  </p:clrMapOvr>
  <p:transition spd="med"/>
</p:sld>
</file>

<file path=ppt/theme/theme1.xml><?xml version="1.0" encoding="utf-8"?>
<a:theme xmlns:a="http://schemas.openxmlformats.org/drawingml/2006/main" name="Metropolitan">
  <a:themeElements>
    <a:clrScheme name="Metropolitan">
      <a:dk1>
        <a:sysClr val="windowText" lastClr="000000"/>
      </a:dk1>
      <a:lt1>
        <a:sysClr val="window" lastClr="FFFFFF"/>
      </a:lt1>
      <a:dk2>
        <a:srgbClr val="162F33"/>
      </a:dk2>
      <a:lt2>
        <a:srgbClr val="EAF0E0"/>
      </a:lt2>
      <a:accent1>
        <a:srgbClr val="50B4C8"/>
      </a:accent1>
      <a:accent2>
        <a:srgbClr val="A8B97F"/>
      </a:accent2>
      <a:accent3>
        <a:srgbClr val="9B9256"/>
      </a:accent3>
      <a:accent4>
        <a:srgbClr val="657689"/>
      </a:accent4>
      <a:accent5>
        <a:srgbClr val="7A855D"/>
      </a:accent5>
      <a:accent6>
        <a:srgbClr val="84AC9D"/>
      </a:accent6>
      <a:hlink>
        <a:srgbClr val="2370CD"/>
      </a:hlink>
      <a:folHlink>
        <a:srgbClr val="877589"/>
      </a:folHlink>
    </a:clrScheme>
    <a:fontScheme name="Metropolita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79CFCA13-9412-4290-BB4B-85112F88857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Metropolitan</Template>
  <TotalTime>6</TotalTime>
  <Words>662</Words>
  <Application>Microsoft Office PowerPoint</Application>
  <PresentationFormat>Widescreen</PresentationFormat>
  <Paragraphs>111</Paragraphs>
  <Slides>8</Slides>
  <Notes>5</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8</vt:i4>
      </vt:variant>
    </vt:vector>
  </HeadingPairs>
  <TitlesOfParts>
    <vt:vector size="22" baseType="lpstr">
      <vt:lpstr>Aptos</vt:lpstr>
      <vt:lpstr>Aptos Narrow</vt:lpstr>
      <vt:lpstr>Arial</vt:lpstr>
      <vt:lpstr>Calibri</vt:lpstr>
      <vt:lpstr>Calibri Light</vt:lpstr>
      <vt:lpstr>Futura Maxi Book</vt:lpstr>
      <vt:lpstr>Lexend</vt:lpstr>
      <vt:lpstr>Lexend ExtraLight</vt:lpstr>
      <vt:lpstr>Open Sans</vt:lpstr>
      <vt:lpstr>Open Sans Extrabold</vt:lpstr>
      <vt:lpstr>Open Sans Light</vt:lpstr>
      <vt:lpstr>Open Sans Semibold</vt:lpstr>
      <vt:lpstr>Segoe UI</vt:lpstr>
      <vt:lpstr>Metropolitan</vt:lpstr>
      <vt:lpstr>Analytics &amp; Insights </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jeny mistry</dc:creator>
  <cp:lastModifiedBy>jeny mistry</cp:lastModifiedBy>
  <cp:revision>1</cp:revision>
  <dcterms:created xsi:type="dcterms:W3CDTF">2026-02-17T17:34:00Z</dcterms:created>
  <dcterms:modified xsi:type="dcterms:W3CDTF">2026-02-17T17:40:02Z</dcterms:modified>
</cp:coreProperties>
</file>